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e40848c5ef4366" /><Relationship Type="http://schemas.openxmlformats.org/officeDocument/2006/relationships/extended-properties" Target="/docProps/app.xml" Id="Ra3c288c270cf4c4f" /><Relationship Type="http://schemas.openxmlformats.org/officeDocument/2006/relationships/officeDocument" Target="/ppt/presentation.xml" Id="R28da24a8729346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ac969cebae481d"/>
  </p:sldMasterIdLst>
  <p:notesMasterIdLst>
    <p:notesMasterId xmlns:r="http://schemas.openxmlformats.org/officeDocument/2006/relationships" r:id="R4e8eb80228084c53"/>
  </p:notesMasterIdLst>
  <p:sldIdLst>
    <p:sldId xmlns:r="http://schemas.openxmlformats.org/officeDocument/2006/relationships" id="256" r:id="R6256629c086f427c"/>
    <p:sldId xmlns:r="http://schemas.openxmlformats.org/officeDocument/2006/relationships" id="257" r:id="Rbc68617b5dcd491f"/>
    <p:sldId xmlns:r="http://schemas.openxmlformats.org/officeDocument/2006/relationships" id="258" r:id="Rc140be9a5fcb4db1"/>
    <p:sldId xmlns:r="http://schemas.openxmlformats.org/officeDocument/2006/relationships" id="259" r:id="R861afc0d78ec4828"/>
    <p:sldId xmlns:r="http://schemas.openxmlformats.org/officeDocument/2006/relationships" id="260" r:id="Rd0ded946d4204796"/>
    <p:sldId xmlns:r="http://schemas.openxmlformats.org/officeDocument/2006/relationships" id="261" r:id="Rcef11f3a18e14276"/>
    <p:sldId xmlns:r="http://schemas.openxmlformats.org/officeDocument/2006/relationships" id="262" r:id="R21b71e0782f341fb"/>
    <p:sldId xmlns:r="http://schemas.openxmlformats.org/officeDocument/2006/relationships" id="263" r:id="R91bb73518c314a54"/>
    <p:sldId xmlns:r="http://schemas.openxmlformats.org/officeDocument/2006/relationships" id="264" r:id="R519699e9548b4300"/>
    <p:sldId xmlns:r="http://schemas.openxmlformats.org/officeDocument/2006/relationships" id="265" r:id="R55b1141f68ea44a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d42bae1f334f15" /><Relationship Type="http://schemas.openxmlformats.org/officeDocument/2006/relationships/slideMaster" Target="/ppt/slideMasters/slideMaster1.xml" Id="Ra0ac969cebae481d" /><Relationship Type="http://schemas.openxmlformats.org/officeDocument/2006/relationships/notesMaster" Target="/ppt/notesMasters/notesMaster1.xml" Id="R4e8eb80228084c53" /><Relationship Type="http://schemas.openxmlformats.org/officeDocument/2006/relationships/presProps" Target="/ppt/presProps.xml" Id="Raa9683676ef443d5" /><Relationship Type="http://schemas.openxmlformats.org/officeDocument/2006/relationships/viewProps" Target="/ppt/viewProps.xml" Id="R103a4c37c5144b6b" /><Relationship Type="http://schemas.openxmlformats.org/officeDocument/2006/relationships/tableStyles" Target="/ppt/tableStyles.xml" Id="R92d1976257c64aa8" /><Relationship Type="http://schemas.openxmlformats.org/officeDocument/2006/relationships/slide" Target="/ppt/slides/slide1.xml" Id="R6256629c086f427c" /><Relationship Type="http://schemas.openxmlformats.org/officeDocument/2006/relationships/slide" Target="/ppt/slides/slide2.xml" Id="Rbc68617b5dcd491f" /><Relationship Type="http://schemas.openxmlformats.org/officeDocument/2006/relationships/slide" Target="/ppt/slides/slide3.xml" Id="Rc140be9a5fcb4db1" /><Relationship Type="http://schemas.openxmlformats.org/officeDocument/2006/relationships/slide" Target="/ppt/slides/slide4.xml" Id="R861afc0d78ec4828" /><Relationship Type="http://schemas.openxmlformats.org/officeDocument/2006/relationships/slide" Target="/ppt/slides/slide5.xml" Id="Rd0ded946d4204796" /><Relationship Type="http://schemas.openxmlformats.org/officeDocument/2006/relationships/slide" Target="/ppt/slides/slide6.xml" Id="Rcef11f3a18e14276" /><Relationship Type="http://schemas.openxmlformats.org/officeDocument/2006/relationships/slide" Target="/ppt/slides/slide7.xml" Id="R21b71e0782f341fb" /><Relationship Type="http://schemas.openxmlformats.org/officeDocument/2006/relationships/slide" Target="/ppt/slides/slide8.xml" Id="R91bb73518c314a54" /><Relationship Type="http://schemas.openxmlformats.org/officeDocument/2006/relationships/slide" Target="/ppt/slides/slide9.xml" Id="R519699e9548b4300" /><Relationship Type="http://schemas.openxmlformats.org/officeDocument/2006/relationships/slide" Target="/ppt/slides/slide10.xml" Id="R55b1141f68ea44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7309ae649148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9e4601cd96483e" /><Relationship Type="http://schemas.openxmlformats.org/officeDocument/2006/relationships/notesMaster" Target="/ppt/notesMasters/notesMaster1.xml" Id="R3e54e74b02fa46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38d5561b6146f0" /><Relationship Type="http://schemas.openxmlformats.org/officeDocument/2006/relationships/notesMaster" Target="/ppt/notesMasters/notesMaster1.xml" Id="R77a53392904f46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c27fe1106248aa" /><Relationship Type="http://schemas.openxmlformats.org/officeDocument/2006/relationships/notesMaster" Target="/ppt/notesMasters/notesMaster1.xml" Id="R28e960f05ca84d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54901250c24fb4" /><Relationship Type="http://schemas.openxmlformats.org/officeDocument/2006/relationships/notesMaster" Target="/ppt/notesMasters/notesMaster1.xml" Id="R9917679c43dd46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49ad4a37794862" /><Relationship Type="http://schemas.openxmlformats.org/officeDocument/2006/relationships/notesMaster" Target="/ppt/notesMasters/notesMaster1.xml" Id="Rce994d521b5742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f0f367eec04e8e" /><Relationship Type="http://schemas.openxmlformats.org/officeDocument/2006/relationships/notesMaster" Target="/ppt/notesMasters/notesMaster1.xml" Id="Rc9157688c18e49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ad31fff71c4c1f" /><Relationship Type="http://schemas.openxmlformats.org/officeDocument/2006/relationships/notesMaster" Target="/ppt/notesMasters/notesMaster1.xml" Id="R23aa9d1ee4cf4e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6fb96df0714c36" /><Relationship Type="http://schemas.openxmlformats.org/officeDocument/2006/relationships/notesMaster" Target="/ppt/notesMasters/notesMaster1.xml" Id="Re7360c41d5704e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cba98d67104946" /><Relationship Type="http://schemas.openxmlformats.org/officeDocument/2006/relationships/notesMaster" Target="/ppt/notesMasters/notesMaster1.xml" Id="Rfc0037d4f9e248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08269fb73144eb" /><Relationship Type="http://schemas.openxmlformats.org/officeDocument/2006/relationships/notesMaster" Target="/ppt/notesMasters/notesMaster1.xml" Id="R286a5cfbd1444e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0:00–0:25 · 25 секунд</a:t>
            </a:r>
          </a:p>
          <a:p xmlns:a="http://schemas.openxmlformats.org/drawingml/2006/main">
            <a:r>
              <a:t>Начните без приветствия: «Встреча закончилась. Все кивнули. А завтра появляется сообщение: “Подождите, а кто это обещал?”» Пауза. «Мы сделали Megan, чтобы разговор заканчивался понятным следующим шагом: кто отвечает, что делает, к какому сроку — и где именно это прозвучало. При этом сама запись остаётся у команды».</a:t>
            </a:r>
          </a:p>
          <a:p xmlns:a="http://schemas.openxmlformats.org/drawingml/2006/main">
            <a:r>
              <a:t>Источник: продуктовая постановка; это пример ситуации, не статистика.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0:25–1:00 · 35 секунд</a:t>
            </a:r>
          </a:p>
          <a:p xmlns:a="http://schemas.openxmlformats.org/drawingml/2006/main">
            <a:r>
              <a:t>«Вы записываете разговор в браузере или загружаете готовый аудиофайл. Megan расшифровывает речь и собирает полный протокол: короткое резюме, принятые решения, темы, нерешённые вопросы и явно названные риски. А поручения вынесены отдельно: задача, ответственный, срок и приоритет. Если срок или исполнитель не названы, мы не должны их придумывать. Результат можно проверить, уточнить и забрать в удобном формате. Это рабочий путь от записи до следующего действия».</a:t>
            </a:r>
          </a:p>
          <a:p xmlns:a="http://schemas.openxmlformats.org/drawingml/2006/main">
            <a:r>
              <a:t>Источники: backend/schemas.py; backend/pipeline/structure.py; ReportView.tsx; ТЗ, стр.1. Точность конкретного вывода требует проверки.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1:00–1:40 · 40 секунд</a:t>
            </a:r>
          </a:p>
          <a:p xmlns:a="http://schemas.openxmlformats.org/drawingml/2006/main">
            <a:r>
              <a:t>«Вот конкретный результат из нашего сохранённого демо. Сначала в разговоре звучит понедельник, а затем участник исправляет срок на восемнадцатое сентября. В поручении стоит исправленная дата. Но самое важное — возможность проверить, откуда она взялась. Нажимаем источник и слушаем именно этот фрагмент. Если распознавание или интерпретация ошиблись, задача редактируется, а изменение сохраняется. Мы не просим доверять красивому тексту вслепую: даём короткий путь обратно к исходным словам».</a:t>
            </a:r>
          </a:p>
          <a:p xmlns:a="http://schemas.openxmlformats.org/drawingml/2006/main">
            <a:r>
              <a:t>Источник: demo/russian/job.json, A1, S7 (20.42s), S8 (24.14s). Задача и дата воспроизведены из сохранённого вывода, не придуманы для слайда. Демо синтетическое, не человеческая встреча. Совпавшая цитата не гарантирует правильную интерпретацию; сохраняйте эту границу в ответах жюри.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1:40–2:15 · 35 секунд</a:t>
            </a:r>
          </a:p>
          <a:p xmlns:a="http://schemas.openxmlformats.org/drawingml/2006/main">
            <a:r>
              <a:t>«Весь основной путь работает локально. Whisper превращает звук в текст. Если включено разделение спикеров, Sortformer отмечает голоса. Qwen через Ollama собирает протокол. Мы запускаем модели последовательно, чтобы ограничивать одновременную нагрузку на память. Запись, текст и история результатов хранятся у пользователя. После установки модели не требуют внешнего API. Для обязательного офлайн-сценария достаточно локальных выгрузок. Notion — отдельный добровольный онлайн-экспорт; его мы не включаем в заявление об автономности».</a:t>
            </a:r>
          </a:p>
          <a:p xmlns:a="http://schemas.openxmlformats.org/drawingml/2006/main">
            <a:r>
              <a:t>Источники: backend/worker.py, scripts/run_local.sh, scripts/run_ollama.sh, docs/OFFLINE.md, docs/DOCKER.md. Не утверждать, что Notion не передаёт текст: он отправляет отчёт и цитаты по запросу пользователя. Аудио остаётся локально.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2:15–2:50 · 35 секунд</a:t>
            </a:r>
          </a:p>
          <a:p xmlns:a="http://schemas.openxmlformats.org/drawingml/2006/main">
            <a:r>
              <a:t>«После получения протокола возникают три практических вопроса. Кто это сказал? Для этого есть голоса и чат, который возвращает ответ с цитатами. На каком языке работать? Язык самой речи и язык отчёта выбираются независимо: русский, казахский, английский. Куда передать результат? В JSON, таблицу CSV или календарные задачи. Есть и отдельный экспорт в Notion по запросу пользователя. Эти функции продолжают тот же путь: найти нужное в разговоре и перейти к работе».</a:t>
            </a:r>
          </a:p>
          <a:p xmlns:a="http://schemas.openxmlformats.org/drawingml/2006/main">
            <a:r>
              <a:t>Источники: обновлённые backend/pipeline/rag.py и structure.py, main.py; UploadView.tsx; export.py; notion.py. Поддержка языков не означает одинаковую точность: KK/RU диагностика 40,59 с дала 38% WER с override; см. резервный слайд. Голоса — до 4, автоматические реальные имена не обещать.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2:50–3:50 · 60 секунд · ДЕМО</a:t>
            </a:r>
          </a:p>
          <a:p xmlns:a="http://schemas.openxmlformats.org/drawingml/2006/main">
            <a:r>
              <a:t>На этом слайде пока постер, а не встроенное видео. Замените изображение и тёмную подпись одним видео 16:9, размер 960×540 px, x=160/y=139. Вставляйте файл внутрь PPTX, без онлайн-ссылки.</a:t>
            </a:r>
          </a:p>
          <a:p xmlns:a="http://schemas.openxmlformats.org/drawingml/2006/main">
            <a:r>
              <a:t>План записи: 0–8 с — открыть записанное демо и назвать его заранее подготовленным; 8–20 с — показать поручение Даны, исполнителя и исправленную дату; 20–35 с — открыть источник 00:24 и проиграть исправление; 35–45 с — показать, что сомнительный срок другой задачи помечен для проверки; 45–55 с — выгрузить JSON или .ics; 55–60 с — вернуться к поручению.</a:t>
            </a:r>
          </a:p>
          <a:p xmlns:a="http://schemas.openxmlformats.org/drawingml/2006/main">
            <a:r>
              <a:t>Вступление: «Покажем этот путь на заранее подготовленной записи. Нас интересует одна договорённость». Во время звучания источника не говорите поверх аудио. Финальная фраза: «От результата до исходных слов — одно действие».</a:t>
            </a:r>
          </a:p>
          <a:p xmlns:a="http://schemas.openxmlformats.org/drawingml/2006/main">
            <a:r>
              <a:t>Не выдавайте сохранённый отчёт за свежий прогон. Если видео монтирует ожидание, обозначьте ускорение/пропуск и реальное время. Не экспортируйте в Notion на обязательном офлайн-демо. Входящие записи жюри проверяются отдельным реальным запуском.</a:t>
            </a:r>
          </a:p>
          <a:p xmlns:a="http://schemas.openxmlformats.org/drawingml/2006/main">
            <a:r>
              <a:t>Постер: фактический интерфейс localhost:8766, русское синтетическое демо из demo/README.md.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3:50–4:20 · 30 секунд</a:t>
            </a:r>
          </a:p>
          <a:p xmlns:a="http://schemas.openxmlformats.org/drawingml/2006/main">
            <a:r>
              <a:t>«Мы проверили весь локальный путь на двухминутной записи живой русской речи. На нашем M5 с шестнадцатью гигабайтами памяти результат занял две минуты двенадцать секунд после загрузки. Здесь видно, куда уходит время: основная часть — формирование протокола. Это измеренный результат на конкретном устройстве. Для пользователя этот путь заканчивается сохранённым отчётом: к нему можно вернуться, проверить поручения и продолжить работу».</a:t>
            </a:r>
          </a:p>
          <a:p xmlns:a="http://schemas.openxmlformats.org/drawingml/2006/main">
            <a:r>
              <a:t>Источник: docs/QUALITY_LOG.md, финальная запись 892b425f-d30d-4435-9a4d-e6e238f81c35; receipt .local/evaluation/quality-20260911/final-gate-api/russian-human/receipt.json. 120 с аудио, 132.11 с wall, ASR 10.47408275, Sortformer 5.19300579, Qwen 115.34848213. Округление 2:12 — до ближайшей секунды. Это не Docker CPU и не RTX, не статистический SLA. Не утверждать полного отсутствия смысловых ошибок.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4:20–5:00 · 40 секунд</a:t>
            </a:r>
          </a:p>
          <a:p xmlns:a="http://schemas.openxmlformats.org/drawingml/2006/main">
            <a:r>
              <a:t>«После встречи команда должна заниматься работой, а не заново выяснять, кто что обещал. Megan связывает запись, протокол и действие. Есть ответственный и срок — их можно увидеть. Нужно проверить — можно услышать исходную фразу. Нужно передать дальше — можно выгрузить результат. И основной процесс остаётся на вашем устройстве. Мы не отменяем человеческую проверку; делаем её быстрой и понятной. Кто, что, когда — и где это прозвучало. Это Megan».</a:t>
            </a:r>
          </a:p>
          <a:p xmlns:a="http://schemas.openxmlformats.org/drawingml/2006/main">
            <a:r>
              <a:t>После последней фразы выдержите паузу, завершите основной показ. Следующие два слайда — только для вопросов. Не переходите к ним автоматически.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— не входит в 5 минут.</a:t>
            </a:r>
          </a:p>
          <a:p xmlns:a="http://schemas.openxmlformats.org/drawingml/2006/main">
            <a:r>
              <a:t>Если жюри спрашивает про Notion и полный офлайн: «Локальная обработка не зависит от Notion. Для офлайн-проверки мы используем JSON, CSV и ICS. ТЗ явно допускает календарный файл как интеграцию. Подключение Notion — отдельный добровольный онлайн-сценарий: передаётся отчёт и цитаты, но не аудио».</a:t>
            </a:r>
          </a:p>
          <a:p xmlns:a="http://schemas.openxmlformats.org/drawingml/2006/main">
            <a:r>
              <a:t>Не скрывать внешнее соединение и не выполнять Notion-экспорт при проверке полного офлайна. После установки модели, приложение и шрифты локальны. Установка/скачивание весов требует сети. Источник: ТЗ, стр. 1; docs/DOCKER.md; backend/notion.py.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— не входит в 5 минут.</a:t>
            </a:r>
          </a:p>
          <a:p xmlns:a="http://schemas.openxmlformats.org/drawingml/2006/main">
            <a:r>
              <a:t>Казахско-русская диагностика: 6 клипов, выбор каждого шестого ряда до просмотра результатов; 40,59 с и 100 нормализованных эталонных слов. Auto: 49 ошибок; явное kk: 38 ошибок. Это небольшая проверка ASR, а не оценка качества поручений или гарантия распознавания смешанной речи. Источник: docs/MULTILINGUAL_TEST.md; ревизия набора данных 753d6640b4b02daf6bb73307a8572c2a710c203e.</a:t>
            </a:r>
          </a:p>
          <a:p xmlns:a="http://schemas.openxmlformats.org/drawingml/2006/main">
            <a:r>
              <a:t>Прогоны живой русской и английской речи: docs/QUALITY_LOG.md. В проверках встречались пропуски сроков и условий задач, а также спорные вопросы. Источники и редактирование помогают проверять результат.</a:t>
            </a:r>
          </a:p>
          <a:p xmlns:a="http://schemas.openxmlformats.org/drawingml/2006/main">
            <a:r>
              <a:t>Sortformer: до 4 голосов; неоднозначные сегменты могут остаться без метки. Автоматическое определение реальных имён не заявляется.</a:t>
            </a:r>
          </a:p>
          <a:p xmlns:a="http://schemas.openxmlformats.org/drawingml/2006/main">
            <a:r>
              <a:t>Docker CPU на Mac не получает Metal GPU. Замер native Mac нельзя переносить на Docker или RTX. Подготовленные Docker-демо загружают сохранённые отчёты и не запускают модели заново.</a:t>
            </a:r>
          </a:p>
          <a:p xmlns:a="http://schemas.openxmlformats.org/drawingml/2006/main">
            <a:r>
              <a:t>Перед питчем: три репетиции, проверка звука и встроенного видео, офлайн-экспорт и отдельный реальный запуск на аудио жюри.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c07db901e04a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084ea03cce401c" /><Relationship Type="http://schemas.openxmlformats.org/officeDocument/2006/relationships/slideLayout" Target="/ppt/slideLayouts/slideLayout1.xml" Id="Rf4e7c89c30c94c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e7c89c30c94c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93eb757244eaa" /><Relationship Type="http://schemas.openxmlformats.org/officeDocument/2006/relationships/notesSlide" Target="/ppt/notesSlides/notesSlide1.xml" Id="R356517127f7841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80726d5ac4947" /><Relationship Type="http://schemas.openxmlformats.org/officeDocument/2006/relationships/notesSlide" Target="/ppt/notesSlides/notesSlide2.xml" Id="Rbdf080d73fb548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9866e54184635" /><Relationship Type="http://schemas.openxmlformats.org/officeDocument/2006/relationships/notesSlide" Target="/ppt/notesSlides/notesSlide3.xml" Id="R15cbd0b8b4fe48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38e1b5da04642" /><Relationship Type="http://schemas.openxmlformats.org/officeDocument/2006/relationships/notesSlide" Target="/ppt/notesSlides/notesSlide4.xml" Id="R03dc13fa3e1b40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5697e77194d7b" /><Relationship Type="http://schemas.openxmlformats.org/officeDocument/2006/relationships/notesSlide" Target="/ppt/notesSlides/notesSlide5.xml" Id="Rba14ea9f003349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088c6e33a4111" /><Relationship Type="http://schemas.openxmlformats.org/officeDocument/2006/relationships/image" Target="/ppt/media/image.png" Id="Rf025da15f2c74f16" /><Relationship Type="http://schemas.openxmlformats.org/officeDocument/2006/relationships/notesSlide" Target="/ppt/notesSlides/notesSlide6.xml" Id="Rc11c6855a83e49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618b4ae4e4dca" /><Relationship Type="http://schemas.openxmlformats.org/officeDocument/2006/relationships/notesSlide" Target="/ppt/notesSlides/notesSlide7.xml" Id="R10b99fbdb59d44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91a7836ac4912" /><Relationship Type="http://schemas.openxmlformats.org/officeDocument/2006/relationships/image" Target="/ppt/media/image2.png" Id="R7aa8dcdf711f4f03" /><Relationship Type="http://schemas.openxmlformats.org/officeDocument/2006/relationships/image" Target="/ppt/media/image.svg" Id="R4557cdf2e5004fdf" /><Relationship Type="http://schemas.openxmlformats.org/officeDocument/2006/relationships/notesSlide" Target="/ppt/notesSlides/notesSlide8.xml" Id="Rd363863d501441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333372d7c4b3a" /><Relationship Type="http://schemas.openxmlformats.org/officeDocument/2006/relationships/notesSlide" Target="/ppt/notesSlides/notesSlide9.xml" Id="R0bf481113a764c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07938cd4642f5" /><Relationship Type="http://schemas.openxmlformats.org/officeDocument/2006/relationships/notesSlide" Target="/ppt/notesSlides/notesSlide10.xml" Id="R98c876cd345c4b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BC0BA06-A689-4F9A-AAD1-B5B8D4B1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B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7458888-9354-4504-97AC-ADD6659E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3375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050">
                <a:solidFill>
                  <a:srgbClr val="596B29"/>
                </a:solidFill>
                <a:latin typeface="Arial"/>
                <a:ea typeface="Arial"/>
                <a:cs typeface="Arial"/>
              </a:defRPr>
            </a:pPr>
            <a:r>
              <a:t>MEGAN · AI MEETING INTELLIGENCE</a:t>
            </a:r>
          </a:p>
        </p:txBody>
      </p:sp>
      <p:sp>
        <p:nvSpPr>
          <p:cNvPr id="3" name="hook">
            <a:extLst xmlns:a="http://schemas.openxmlformats.org/drawingml/2006/main">
              <a:ext uri="{FF2B5EF4-FFF2-40B4-BE49-F238E27FC236}">
                <a16:creationId xmlns:a16="http://schemas.microsoft.com/office/drawing/2014/main" id="{12B4F8F9-C3CC-424A-8A05-295CEF42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771525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5700">
                <a:solidFill>
                  <a:srgbClr val="30372C"/>
                </a:solidFill>
                <a:latin typeface="Georgia"/>
                <a:ea typeface="Georgia"/>
                <a:cs typeface="Georgia"/>
              </a:defRPr>
            </a:pPr>
            <a:r>
              <a:t>Договорились.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5700">
                <a:solidFill>
                  <a:srgbClr val="30372C"/>
                </a:solidFill>
                <a:latin typeface="Georgia"/>
                <a:ea typeface="Georgia"/>
                <a:cs typeface="Georgia"/>
              </a:defRPr>
            </a:pPr>
            <a:r>
              <a:t>А кто сделает?</a:t>
            </a:r>
          </a:p>
        </p:txBody>
      </p:sp>
      <p:sp>
        <p:nvSpPr>
          <p:cNvPr id="4" name="product-promise">
            <a:extLst xmlns:a="http://schemas.openxmlformats.org/drawingml/2006/main">
              <a:ext uri="{FF2B5EF4-FFF2-40B4-BE49-F238E27FC236}">
                <a16:creationId xmlns:a16="http://schemas.microsoft.com/office/drawing/2014/main" id="{8F8ED620-A9D9-44C3-82B3-447D41CF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029075"/>
            <a:ext cx="7524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100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Megan превращает разговор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100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в проверяемый план действий.</a:t>
            </a:r>
          </a:p>
        </p:txBody>
      </p:sp>
      <p:sp>
        <p:nvSpPr>
          <p:cNvPr id="5" name="ownership-rail">
            <a:extLst xmlns:a="http://schemas.openxmlformats.org/drawingml/2006/main">
              <a:ext uri="{FF2B5EF4-FFF2-40B4-BE49-F238E27FC236}">
                <a16:creationId xmlns:a16="http://schemas.microsoft.com/office/drawing/2014/main" id="{4D768A81-C97F-4AEC-A59E-637F1719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362075"/>
            <a:ext cx="28575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B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who">
            <a:extLst xmlns:a="http://schemas.openxmlformats.org/drawingml/2006/main">
              <a:ext uri="{FF2B5EF4-FFF2-40B4-BE49-F238E27FC236}">
                <a16:creationId xmlns:a16="http://schemas.microsoft.com/office/drawing/2014/main" id="{1AB1C3BA-4C10-498A-8081-CAE99D72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24000"/>
            <a:ext cx="190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3000">
                <a:solidFill>
                  <a:srgbClr val="596B29"/>
                </a:solidFill>
                <a:latin typeface="Georgia"/>
                <a:ea typeface="Georgia"/>
                <a:cs typeface="Georgia"/>
              </a:defRPr>
            </a:pPr>
            <a:r>
              <a:t>Кто?</a:t>
            </a:r>
          </a:p>
        </p:txBody>
      </p:sp>
      <p:sp>
        <p:nvSpPr>
          <p:cNvPr id="7" name="who-explain">
            <a:extLst xmlns:a="http://schemas.openxmlformats.org/drawingml/2006/main">
              <a:ext uri="{FF2B5EF4-FFF2-40B4-BE49-F238E27FC236}">
                <a16:creationId xmlns:a16="http://schemas.microsoft.com/office/drawing/2014/main" id="{8449949A-634C-46EA-A454-80E16159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05025"/>
            <a:ext cx="2076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Ответственный</a:t>
            </a:r>
          </a:p>
        </p:txBody>
      </p:sp>
      <p:sp>
        <p:nvSpPr>
          <p:cNvPr id="8" name="when">
            <a:extLst xmlns:a="http://schemas.openxmlformats.org/drawingml/2006/main">
              <a:ext uri="{FF2B5EF4-FFF2-40B4-BE49-F238E27FC236}">
                <a16:creationId xmlns:a16="http://schemas.microsoft.com/office/drawing/2014/main" id="{431CC7CC-6BE4-4BBE-9398-6DDE8128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14625"/>
            <a:ext cx="2000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3000">
                <a:solidFill>
                  <a:srgbClr val="596B29"/>
                </a:solidFill>
                <a:latin typeface="Georgia"/>
                <a:ea typeface="Georgia"/>
                <a:cs typeface="Georgia"/>
              </a:defRPr>
            </a:pPr>
            <a:r>
              <a:t>Когда?</a:t>
            </a:r>
          </a:p>
        </p:txBody>
      </p:sp>
      <p:sp>
        <p:nvSpPr>
          <p:cNvPr id="9" name="when-explain">
            <a:extLst xmlns:a="http://schemas.openxmlformats.org/drawingml/2006/main">
              <a:ext uri="{FF2B5EF4-FFF2-40B4-BE49-F238E27FC236}">
                <a16:creationId xmlns:a16="http://schemas.microsoft.com/office/drawing/2014/main" id="{365DDD62-1490-4D27-A7EF-B397E716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95650"/>
            <a:ext cx="2076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Названный срок</a:t>
            </a:r>
          </a:p>
        </p:txBody>
      </p:sp>
      <p:sp>
        <p:nvSpPr>
          <p:cNvPr id="10" name="evidence">
            <a:extLst xmlns:a="http://schemas.openxmlformats.org/drawingml/2006/main">
              <a:ext uri="{FF2B5EF4-FFF2-40B4-BE49-F238E27FC236}">
                <a16:creationId xmlns:a16="http://schemas.microsoft.com/office/drawing/2014/main" id="{1F482501-AE72-403F-8EC8-30A5DF2E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62400"/>
            <a:ext cx="207645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>
                <a:solidFill>
                  <a:srgbClr val="596B29"/>
                </a:solidFill>
                <a:latin typeface="Georgia"/>
                <a:ea typeface="Georgia"/>
                <a:cs typeface="Georgia"/>
              </a:defRPr>
            </a:pPr>
            <a:r>
              <a:t>На чём основано?</a:t>
            </a:r>
          </a:p>
        </p:txBody>
      </p:sp>
      <p:sp>
        <p:nvSpPr>
          <p:cNvPr id="11" name="evidence-explain">
            <a:extLst xmlns:a="http://schemas.openxmlformats.org/drawingml/2006/main">
              <a:ext uri="{FF2B5EF4-FFF2-40B4-BE49-F238E27FC236}">
                <a16:creationId xmlns:a16="http://schemas.microsoft.com/office/drawing/2014/main" id="{989AA4CB-CEDA-4659-99FE-A7922F86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91050"/>
            <a:ext cx="2076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Фрагмент записи</a:t>
            </a:r>
          </a:p>
        </p:txBody>
      </p:sp>
      <p:sp>
        <p:nvSpPr>
          <p:cNvPr id="12" name="bottom-rule">
            <a:extLst xmlns:a="http://schemas.openxmlformats.org/drawingml/2006/main">
              <a:ext uri="{FF2B5EF4-FFF2-40B4-BE49-F238E27FC236}">
                <a16:creationId xmlns:a16="http://schemas.microsoft.com/office/drawing/2014/main" id="{4B84ED6A-AD46-4F02-B8FF-837DC6AB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format">
            <a:extLst xmlns:a="http://schemas.openxmlformats.org/drawingml/2006/main">
              <a:ext uri="{FF2B5EF4-FFF2-40B4-BE49-F238E27FC236}">
                <a16:creationId xmlns:a16="http://schemas.microsoft.com/office/drawing/2014/main" id="{E82A768F-1920-4461-A704-80DC0754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857250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500">
                <a:solidFill>
                  <a:srgbClr val="30372C"/>
                </a:solidFill>
                <a:latin typeface="Arial"/>
                <a:ea typeface="Arial"/>
                <a:cs typeface="Arial"/>
              </a:defRPr>
            </a:pPr>
            <a:r>
              <a:t>Локальный ИИ-секретарь встреч</a:t>
            </a:r>
          </a:p>
        </p:txBody>
      </p:sp>
      <p:sp>
        <p:nvSpPr>
          <p:cNvPr id="1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9FF02DF8-55BD-4453-9AD2-CEFF7683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825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AI Steppe Tech Hack · Track 01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003FF95-1F02-42AE-9492-6B4BA9C6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1050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481803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293427D-6250-4B56-9257-AFBDD534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B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EE586C1-F967-4F76-8A83-FE726270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3375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050">
                <a:solidFill>
                  <a:srgbClr val="596B29"/>
                </a:solidFill>
                <a:latin typeface="Arial"/>
                <a:ea typeface="Arial"/>
                <a:cs typeface="Arial"/>
              </a:defRPr>
            </a:pPr>
            <a:r>
              <a:t>ОТ РЕЧИ К РЕЗУЛЬТАТУ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A0DBC9B6-34E2-4213-862A-E8907CC9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200">
                <a:solidFill>
                  <a:srgbClr val="30372C"/>
                </a:solidFill>
                <a:latin typeface="Georgia"/>
                <a:ea typeface="Georgia"/>
                <a:cs typeface="Georgia"/>
              </a:defRPr>
            </a:pPr>
            <a:r>
              <a:t>Запись превращается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200">
                <a:solidFill>
                  <a:srgbClr val="30372C"/>
                </a:solidFill>
                <a:latin typeface="Georgia"/>
                <a:ea typeface="Georgia"/>
                <a:cs typeface="Georgia"/>
              </a:defRPr>
            </a:pPr>
            <a:r>
              <a:t>в план действий.</a:t>
            </a:r>
          </a:p>
        </p:txBody>
      </p:sp>
      <p:sp>
        <p:nvSpPr>
          <p:cNvPr id="4" name="input-number">
            <a:extLst xmlns:a="http://schemas.openxmlformats.org/drawingml/2006/main">
              <a:ext uri="{FF2B5EF4-FFF2-40B4-BE49-F238E27FC236}">
                <a16:creationId xmlns:a16="http://schemas.microsoft.com/office/drawing/2014/main" id="{11924D4D-8B41-41DD-B049-885C76C6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952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250">
                <a:solidFill>
                  <a:srgbClr val="596B29"/>
                </a:solidFill>
                <a:latin typeface="Georgia"/>
                <a:ea typeface="Georgia"/>
                <a:cs typeface="Georgia"/>
              </a:defRPr>
            </a:pPr>
            <a:r>
              <a:t>01</a:t>
            </a:r>
          </a:p>
        </p:txBody>
      </p:sp>
      <p:sp>
        <p:nvSpPr>
          <p:cNvPr id="5" name="input-label">
            <a:extLst xmlns:a="http://schemas.openxmlformats.org/drawingml/2006/main">
              <a:ext uri="{FF2B5EF4-FFF2-40B4-BE49-F238E27FC236}">
                <a16:creationId xmlns:a16="http://schemas.microsoft.com/office/drawing/2014/main" id="{7ACD989C-8BD2-4E78-8766-ADB8A12F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2857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75">
                <a:solidFill>
                  <a:srgbClr val="30372C"/>
                </a:solidFill>
                <a:latin typeface="Arial"/>
                <a:ea typeface="Arial"/>
                <a:cs typeface="Arial"/>
              </a:defRPr>
            </a:pPr>
            <a:r>
              <a:t>Запишите встречу</a:t>
            </a:r>
          </a:p>
        </p:txBody>
      </p:sp>
      <p:sp>
        <p:nvSpPr>
          <p:cNvPr id="6" name="input-node">
            <a:extLst xmlns:a="http://schemas.openxmlformats.org/drawingml/2006/main">
              <a:ext uri="{FF2B5EF4-FFF2-40B4-BE49-F238E27FC236}">
                <a16:creationId xmlns:a16="http://schemas.microsoft.com/office/drawing/2014/main" id="{17F91E92-AB01-469B-A2A2-39E78503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25717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input-value">
            <a:extLst xmlns:a="http://schemas.openxmlformats.org/drawingml/2006/main">
              <a:ext uri="{FF2B5EF4-FFF2-40B4-BE49-F238E27FC236}">
                <a16:creationId xmlns:a16="http://schemas.microsoft.com/office/drawing/2014/main" id="{B3E8E9CF-2156-4749-94AB-C4F64047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86275"/>
            <a:ext cx="21526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650">
                <a:solidFill>
                  <a:srgbClr val="30372C"/>
                </a:solidFill>
                <a:latin typeface="Arial"/>
                <a:ea typeface="Arial"/>
                <a:cs typeface="Arial"/>
              </a:defRPr>
            </a:pPr>
            <a:r>
              <a:t>Микрофон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650">
                <a:solidFill>
                  <a:srgbClr val="30372C"/>
                </a:solidFill>
                <a:latin typeface="Arial"/>
                <a:ea typeface="Arial"/>
                <a:cs typeface="Arial"/>
              </a:defRPr>
            </a:pPr>
            <a:r>
              <a:t>или MP3 / WAV / M4A</a:t>
            </a:r>
          </a:p>
        </p:txBody>
      </p:sp>
      <p:sp>
        <p:nvSpPr>
          <p:cNvPr id="8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F11E63B3-7359-4085-B04E-5FF2D26A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571750"/>
            <a:ext cx="952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250">
                <a:solidFill>
                  <a:srgbClr val="596B29"/>
                </a:solidFill>
                <a:latin typeface="Georgia"/>
                <a:ea typeface="Georgia"/>
                <a:cs typeface="Georgia"/>
              </a:defRPr>
            </a:pPr>
            <a:r>
              <a:t>02</a:t>
            </a:r>
          </a:p>
        </p:txBody>
      </p:sp>
      <p:sp>
        <p:nvSpPr>
          <p:cNvPr id="9" name="report-label">
            <a:extLst xmlns:a="http://schemas.openxmlformats.org/drawingml/2006/main">
              <a:ext uri="{FF2B5EF4-FFF2-40B4-BE49-F238E27FC236}">
                <a16:creationId xmlns:a16="http://schemas.microsoft.com/office/drawing/2014/main" id="{D70DEC3A-1DC7-4B8C-810E-EBBBDDA2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152775"/>
            <a:ext cx="3810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75">
                <a:solidFill>
                  <a:srgbClr val="30372C"/>
                </a:solidFill>
                <a:latin typeface="Arial"/>
                <a:ea typeface="Arial"/>
                <a:cs typeface="Arial"/>
              </a:defRPr>
            </a:pPr>
            <a:r>
              <a:t>Получите протокол</a:t>
            </a:r>
          </a:p>
        </p:txBody>
      </p:sp>
      <p:sp>
        <p:nvSpPr>
          <p:cNvPr id="10" name="report-node">
            <a:extLst xmlns:a="http://schemas.openxmlformats.org/drawingml/2006/main">
              <a:ext uri="{FF2B5EF4-FFF2-40B4-BE49-F238E27FC236}">
                <a16:creationId xmlns:a16="http://schemas.microsoft.com/office/drawing/2014/main" id="{8850165B-5C09-43B5-8221-18504CB5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781425"/>
            <a:ext cx="3810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port-sections">
            <a:extLst xmlns:a="http://schemas.openxmlformats.org/drawingml/2006/main">
              <a:ext uri="{FF2B5EF4-FFF2-40B4-BE49-F238E27FC236}">
                <a16:creationId xmlns:a16="http://schemas.microsoft.com/office/drawing/2014/main" id="{9BF0CD36-86BC-4E68-A016-86A73F9F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29075"/>
            <a:ext cx="3343275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725">
                <a:solidFill>
                  <a:srgbClr val="30372C"/>
                </a:solidFill>
                <a:latin typeface="Arial"/>
                <a:ea typeface="Arial"/>
                <a:cs typeface="Arial"/>
              </a:defRPr>
            </a:pPr>
            <a:r>
              <a:t>Краткое резюме · решения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725">
                <a:solidFill>
                  <a:srgbClr val="30372C"/>
                </a:solidFill>
                <a:latin typeface="Arial"/>
                <a:ea typeface="Arial"/>
                <a:cs typeface="Arial"/>
              </a:defRPr>
            </a:pPr>
            <a:r>
              <a:t>Темы и тезисы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725">
                <a:solidFill>
                  <a:srgbClr val="30372C"/>
                </a:solidFill>
                <a:latin typeface="Arial"/>
                <a:ea typeface="Arial"/>
                <a:cs typeface="Arial"/>
              </a:defRPr>
            </a:pPr>
            <a:r>
              <a:t>Открытые вопросы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725">
                <a:solidFill>
                  <a:srgbClr val="30372C"/>
                </a:solidFill>
                <a:latin typeface="Arial"/>
                <a:ea typeface="Arial"/>
                <a:cs typeface="Arial"/>
              </a:defRPr>
            </a:pPr>
            <a:r>
              <a:t>Риски и блокеры</a:t>
            </a:r>
          </a:p>
        </p:txBody>
      </p:sp>
      <p:sp>
        <p:nvSpPr>
          <p:cNvPr id="12" name="action-number">
            <a:extLst xmlns:a="http://schemas.openxmlformats.org/drawingml/2006/main">
              <a:ext uri="{FF2B5EF4-FFF2-40B4-BE49-F238E27FC236}">
                <a16:creationId xmlns:a16="http://schemas.microsoft.com/office/drawing/2014/main" id="{994D6D0B-283B-4E4E-B267-23670D58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71750"/>
            <a:ext cx="952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250">
                <a:solidFill>
                  <a:srgbClr val="596B29"/>
                </a:solidFill>
                <a:latin typeface="Georgia"/>
                <a:ea typeface="Georgia"/>
                <a:cs typeface="Georgia"/>
              </a:defRPr>
            </a:pPr>
            <a:r>
              <a:t>03</a:t>
            </a:r>
          </a:p>
        </p:txBody>
      </p:sp>
      <p:sp>
        <p:nvSpPr>
          <p:cNvPr id="13" name="action-label">
            <a:extLst xmlns:a="http://schemas.openxmlformats.org/drawingml/2006/main">
              <a:ext uri="{FF2B5EF4-FFF2-40B4-BE49-F238E27FC236}">
                <a16:creationId xmlns:a16="http://schemas.microsoft.com/office/drawing/2014/main" id="{15F22B13-A319-4C32-A222-D5970557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52775"/>
            <a:ext cx="3000375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75">
                <a:solidFill>
                  <a:srgbClr val="30372C"/>
                </a:solidFill>
                <a:latin typeface="Arial"/>
                <a:ea typeface="Arial"/>
                <a:cs typeface="Arial"/>
              </a:defRPr>
            </a:pPr>
            <a:r>
              <a:t>Перейдите к делу</a:t>
            </a:r>
          </a:p>
        </p:txBody>
      </p:sp>
      <p:sp>
        <p:nvSpPr>
          <p:cNvPr id="14" name="action-node">
            <a:extLst xmlns:a="http://schemas.openxmlformats.org/drawingml/2006/main">
              <a:ext uri="{FF2B5EF4-FFF2-40B4-BE49-F238E27FC236}">
                <a16:creationId xmlns:a16="http://schemas.microsoft.com/office/drawing/2014/main" id="{B58E6E64-8F27-4374-9148-E7FC1BE6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81425"/>
            <a:ext cx="30289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B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action-fields">
            <a:extLst xmlns:a="http://schemas.openxmlformats.org/drawingml/2006/main">
              <a:ext uri="{FF2B5EF4-FFF2-40B4-BE49-F238E27FC236}">
                <a16:creationId xmlns:a16="http://schemas.microsoft.com/office/drawing/2014/main" id="{C6398E8B-5A4B-457B-8BD9-6963D43F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486275"/>
            <a:ext cx="2609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Задача · ответственный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Срок · приоритет</a:t>
            </a:r>
          </a:p>
        </p:txBody>
      </p:sp>
      <p:sp>
        <p:nvSpPr>
          <p:cNvPr id="16" name="outcome-note">
            <a:extLst xmlns:a="http://schemas.openxmlformats.org/drawingml/2006/main">
              <a:ext uri="{FF2B5EF4-FFF2-40B4-BE49-F238E27FC236}">
                <a16:creationId xmlns:a16="http://schemas.microsoft.com/office/drawing/2014/main" id="{24C9495F-10AB-4EB9-B7AF-DB2A1D95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6000750"/>
            <a:ext cx="3028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Проверить источник. Уточнить. Экспортировать.</a:t>
            </a:r>
          </a:p>
        </p:txBody>
      </p:sp>
      <p:sp>
        <p:nvSpPr>
          <p:cNvPr id="17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36AD0A9-DD5D-48AC-81D8-C7586EB9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825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Реальные разделы отчёта Megan · обязательный сценарий Track 01</a:t>
            </a:r>
          </a:p>
        </p:txBody>
      </p:sp>
      <p:sp>
        <p:nvSpPr>
          <p:cNvPr id="1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919B89F-B889-43FA-BF81-A4D3B3F3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1050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cxnSp>
        <p:nvCxnSpPr>
          <p:cNvPr id="19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181350" y="4810125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6B29"/>
            </a:solidFill>
            <a:prstDash val="solid"/>
            <a:tailEnd type="arrow" w="med" len="med"/>
          </a:ln>
        </p:spPr>
      </p:cxnSp>
      <p:cxnSp>
        <p:nvCxnSpPr>
          <p:cNvPr id="20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762875" y="4810125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6B29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3718979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9B258DF-749A-430B-BBFC-330EC3A5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B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0580E03-695D-4C00-962A-EF833CC1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3375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050">
                <a:solidFill>
                  <a:srgbClr val="596B29"/>
                </a:solidFill>
                <a:latin typeface="Arial"/>
                <a:ea typeface="Arial"/>
                <a:cs typeface="Arial"/>
              </a:defRPr>
            </a:pPr>
            <a:r>
              <a:t>ПРОВЕРЯЕМОЕ ПОРУЧЕНИЕ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E89995C8-8CEA-4AE0-8539-32750748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200">
                <a:solidFill>
                  <a:srgbClr val="30372C"/>
                </a:solidFill>
                <a:latin typeface="Georgia"/>
                <a:ea typeface="Georgia"/>
                <a:cs typeface="Georgia"/>
              </a:defRPr>
            </a:pPr>
            <a:r>
              <a:t>Каждое поручение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200">
                <a:solidFill>
                  <a:srgbClr val="30372C"/>
                </a:solidFill>
                <a:latin typeface="Georgia"/>
                <a:ea typeface="Georgia"/>
                <a:cs typeface="Georgia"/>
              </a:defRPr>
            </a:pPr>
            <a:r>
              <a:t>можно проверить.</a:t>
            </a:r>
          </a:p>
        </p:txBody>
      </p:sp>
      <p:sp>
        <p:nvSpPr>
          <p:cNvPr id="4" name="saved-task">
            <a:extLst xmlns:a="http://schemas.openxmlformats.org/drawingml/2006/main">
              <a:ext uri="{FF2B5EF4-FFF2-40B4-BE49-F238E27FC236}">
                <a16:creationId xmlns:a16="http://schemas.microsoft.com/office/drawing/2014/main" id="{6D42C365-A1A3-4B93-83D7-546D98AE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4857750" cy="305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ask-label">
            <a:extLst xmlns:a="http://schemas.openxmlformats.org/drawingml/2006/main">
              <a:ext uri="{FF2B5EF4-FFF2-40B4-BE49-F238E27FC236}">
                <a16:creationId xmlns:a16="http://schemas.microsoft.com/office/drawing/2014/main" id="{76154B3F-2E3C-4639-BC25-F9C7A071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424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050">
                <a:solidFill>
                  <a:srgbClr val="596B29"/>
                </a:solidFill>
                <a:latin typeface="Arial"/>
                <a:ea typeface="Arial"/>
                <a:cs typeface="Arial"/>
              </a:defRPr>
            </a:pPr>
            <a:r>
              <a:t>СОХРАНЁННЫЙ РЕЗУЛЬТАТ</a:t>
            </a:r>
          </a:p>
        </p:txBody>
      </p:sp>
      <p:sp>
        <p:nvSpPr>
          <p:cNvPr id="6" name="actual-task">
            <a:extLst xmlns:a="http://schemas.openxmlformats.org/drawingml/2006/main">
              <a:ext uri="{FF2B5EF4-FFF2-40B4-BE49-F238E27FC236}">
                <a16:creationId xmlns:a16="http://schemas.microsoft.com/office/drawing/2014/main" id="{720CAC17-7986-4481-9440-3C6BD9F0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4286250" cy="923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175">
                <a:solidFill>
                  <a:srgbClr val="30372C"/>
                </a:solidFill>
                <a:latin typeface="Georgia"/>
                <a:ea typeface="Georgia"/>
                <a:cs typeface="Georgia"/>
              </a:defRPr>
            </a:pPr>
            <a:r>
              <a:t>Подготовить инструкцию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175">
                <a:solidFill>
                  <a:srgbClr val="30372C"/>
                </a:solidFill>
                <a:latin typeface="Georgia"/>
                <a:ea typeface="Georgia"/>
                <a:cs typeface="Georgia"/>
              </a:defRPr>
            </a:pPr>
            <a:r>
              <a:t>по запуску приложения</a:t>
            </a:r>
          </a:p>
        </p:txBody>
      </p:sp>
      <p:sp>
        <p:nvSpPr>
          <p:cNvPr id="7" name="task-divider">
            <a:extLst xmlns:a="http://schemas.openxmlformats.org/drawingml/2006/main">
              <a:ext uri="{FF2B5EF4-FFF2-40B4-BE49-F238E27FC236}">
                <a16:creationId xmlns:a16="http://schemas.microsoft.com/office/drawing/2014/main" id="{A392CCC4-E2CE-4E56-996A-AB8EEAC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owner-label">
            <a:extLst xmlns:a="http://schemas.openxmlformats.org/drawingml/2006/main">
              <a:ext uri="{FF2B5EF4-FFF2-40B4-BE49-F238E27FC236}">
                <a16:creationId xmlns:a16="http://schemas.microsoft.com/office/drawing/2014/main" id="{E05ACD2E-4CAE-4C84-98AB-36675C66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19526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900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ОТВЕТСТВЕННЫЙ</a:t>
            </a:r>
          </a:p>
        </p:txBody>
      </p:sp>
      <p:sp>
        <p:nvSpPr>
          <p:cNvPr id="9" name="owner-value">
            <a:extLst xmlns:a="http://schemas.openxmlformats.org/drawingml/2006/main">
              <a:ext uri="{FF2B5EF4-FFF2-40B4-BE49-F238E27FC236}">
                <a16:creationId xmlns:a16="http://schemas.microsoft.com/office/drawing/2014/main" id="{F3EEC265-A594-4FD7-BCB5-6F385E11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195262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475">
                <a:solidFill>
                  <a:srgbClr val="30372C"/>
                </a:solidFill>
                <a:latin typeface="Georgia"/>
                <a:ea typeface="Georgia"/>
                <a:cs typeface="Georgia"/>
              </a:defRPr>
            </a:pPr>
            <a:r>
              <a:t>Дана</a:t>
            </a:r>
          </a:p>
        </p:txBody>
      </p:sp>
      <p:sp>
        <p:nvSpPr>
          <p:cNvPr id="10" name="date-label">
            <a:extLst xmlns:a="http://schemas.openxmlformats.org/drawingml/2006/main">
              <a:ext uri="{FF2B5EF4-FFF2-40B4-BE49-F238E27FC236}">
                <a16:creationId xmlns:a16="http://schemas.microsoft.com/office/drawing/2014/main" id="{14DD4210-C6E2-420E-91CE-9F9E4E2D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610100"/>
            <a:ext cx="2228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900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ИСПРАВЛЕННЫЙ СРОК</a:t>
            </a:r>
          </a:p>
        </p:txBody>
      </p:sp>
      <p:sp>
        <p:nvSpPr>
          <p:cNvPr id="11" name="date-value">
            <a:extLst xmlns:a="http://schemas.openxmlformats.org/drawingml/2006/main">
              <a:ext uri="{FF2B5EF4-FFF2-40B4-BE49-F238E27FC236}">
                <a16:creationId xmlns:a16="http://schemas.microsoft.com/office/drawing/2014/main" id="{5595DAFB-39EF-4686-BA5C-3ACD56CF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914900"/>
            <a:ext cx="227647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475">
                <a:solidFill>
                  <a:srgbClr val="30372C"/>
                </a:solidFill>
                <a:latin typeface="Georgia"/>
                <a:ea typeface="Georgia"/>
                <a:cs typeface="Georgia"/>
              </a:defRPr>
            </a:pPr>
            <a:r>
              <a:t>18 сентября</a:t>
            </a:r>
          </a:p>
        </p:txBody>
      </p:sp>
      <p:sp>
        <p:nvSpPr>
          <p:cNvPr id="12" name="quote-time1">
            <a:extLst xmlns:a="http://schemas.openxmlformats.org/drawingml/2006/main">
              <a:ext uri="{FF2B5EF4-FFF2-40B4-BE49-F238E27FC236}">
                <a16:creationId xmlns:a16="http://schemas.microsoft.com/office/drawing/2014/main" id="{A2F6E184-DAC8-4E83-9A43-B8AF40E6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724150"/>
            <a:ext cx="523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050">
                <a:solidFill>
                  <a:srgbClr val="596B29"/>
                </a:solidFill>
                <a:latin typeface="Arial"/>
                <a:ea typeface="Arial"/>
                <a:cs typeface="Arial"/>
              </a:defRPr>
            </a:pPr>
            <a:r>
              <a:t>00:20 · ИЗ ЗАПИСИ</a:t>
            </a:r>
          </a:p>
        </p:txBody>
      </p:sp>
      <p:sp>
        <p:nvSpPr>
          <p:cNvPr id="13" name="quote1">
            <a:extLst xmlns:a="http://schemas.openxmlformats.org/drawingml/2006/main">
              <a:ext uri="{FF2B5EF4-FFF2-40B4-BE49-F238E27FC236}">
                <a16:creationId xmlns:a16="http://schemas.microsoft.com/office/drawing/2014/main" id="{1618306C-587B-456B-BD1B-84AE9094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133725"/>
            <a:ext cx="53530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75">
                <a:solidFill>
                  <a:srgbClr val="30372C"/>
                </a:solidFill>
                <a:latin typeface="Georgia"/>
                <a:ea typeface="Georgia"/>
                <a:cs typeface="Georgia"/>
              </a:defRPr>
            </a:pPr>
            <a:r>
              <a:t>«Дана подготовит инструкцию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75">
                <a:solidFill>
                  <a:srgbClr val="30372C"/>
                </a:solidFill>
                <a:latin typeface="Georgia"/>
                <a:ea typeface="Georgia"/>
                <a:cs typeface="Georgia"/>
              </a:defRPr>
            </a:pPr>
            <a:r>
              <a:t>по запуску к понедельнику».</a:t>
            </a:r>
          </a:p>
        </p:txBody>
      </p:sp>
      <p:sp>
        <p:nvSpPr>
          <p:cNvPr id="14" name="quote-divider">
            <a:extLst xmlns:a="http://schemas.openxmlformats.org/drawingml/2006/main">
              <a:ext uri="{FF2B5EF4-FFF2-40B4-BE49-F238E27FC236}">
                <a16:creationId xmlns:a16="http://schemas.microsoft.com/office/drawing/2014/main" id="{3D1BE1B0-D738-45BC-B15F-9C6E9A09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086225"/>
            <a:ext cx="547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quote-time2">
            <a:extLst xmlns:a="http://schemas.openxmlformats.org/drawingml/2006/main">
              <a:ext uri="{FF2B5EF4-FFF2-40B4-BE49-F238E27FC236}">
                <a16:creationId xmlns:a16="http://schemas.microsoft.com/office/drawing/2014/main" id="{15A58ECD-D115-4D95-B854-EE5B70BE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324350"/>
            <a:ext cx="542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050">
                <a:solidFill>
                  <a:srgbClr val="596B29"/>
                </a:solidFill>
                <a:latin typeface="Arial"/>
                <a:ea typeface="Arial"/>
                <a:cs typeface="Arial"/>
              </a:defRPr>
            </a:pPr>
            <a:r>
              <a:t>00:24 · ПОЗЖЕ В РАЗГОВОРЕ</a:t>
            </a:r>
          </a:p>
        </p:txBody>
      </p:sp>
      <p:sp>
        <p:nvSpPr>
          <p:cNvPr id="16" name="quote2">
            <a:extLst xmlns:a="http://schemas.openxmlformats.org/drawingml/2006/main">
              <a:ext uri="{FF2B5EF4-FFF2-40B4-BE49-F238E27FC236}">
                <a16:creationId xmlns:a16="http://schemas.microsoft.com/office/drawing/2014/main" id="{454C9CEF-E93D-4962-BAC7-A0F976B3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733925"/>
            <a:ext cx="5476875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75">
                <a:solidFill>
                  <a:srgbClr val="30372C"/>
                </a:solidFill>
                <a:latin typeface="Georgia"/>
                <a:ea typeface="Georgia"/>
                <a:cs typeface="Georgia"/>
              </a:defRPr>
            </a:pPr>
            <a:r>
              <a:t>«Исправляю срок, не к понедельнику,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75">
                <a:solidFill>
                  <a:srgbClr val="30372C"/>
                </a:solidFill>
                <a:latin typeface="Georgia"/>
                <a:ea typeface="Georgia"/>
                <a:cs typeface="Georgia"/>
              </a:defRPr>
            </a:pPr>
            <a:r>
              <a:t>а к 18 сентября 2026 года».</a:t>
            </a:r>
          </a:p>
        </p:txBody>
      </p:sp>
      <p:sp>
        <p:nvSpPr>
          <p:cNvPr id="17" name="review-step">
            <a:extLst xmlns:a="http://schemas.openxmlformats.org/drawingml/2006/main">
              <a:ext uri="{FF2B5EF4-FFF2-40B4-BE49-F238E27FC236}">
                <a16:creationId xmlns:a16="http://schemas.microsoft.com/office/drawing/2014/main" id="{D52CDB30-A56C-4F10-B034-37A7934B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8108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650">
                <a:solidFill>
                  <a:srgbClr val="596B29"/>
                </a:solidFill>
                <a:latin typeface="Arial"/>
                <a:ea typeface="Arial"/>
                <a:cs typeface="Arial"/>
              </a:defRPr>
            </a:pPr>
            <a:r>
              <a:t>Источник → прослушивание → проверка → правка</a:t>
            </a:r>
          </a:p>
        </p:txBody>
      </p:sp>
      <p:sp>
        <p:nvSpPr>
          <p:cNvPr id="18" name="source-note">
            <a:extLst xmlns:a="http://schemas.openxmlformats.org/drawingml/2006/main">
              <a:ext uri="{FF2B5EF4-FFF2-40B4-BE49-F238E27FC236}">
                <a16:creationId xmlns:a16="http://schemas.microsoft.com/office/drawing/2014/main" id="{10833CAF-9B2D-4A5F-B0F0-A2332E74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825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Фрагмент сохранённого демо · сценарная синтетическая запись · 11.09.2026</a:t>
            </a:r>
          </a:p>
        </p:txBody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051004C-2AA9-4687-80E1-056A5FEE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1050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160706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303C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3725BE3-C932-47A1-8DE3-8C9BEB02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272E958-D26E-4645-8C75-27CC36EB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3375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050">
                <a:solidFill>
                  <a:srgbClr val="CCD6A3"/>
                </a:solidFill>
                <a:latin typeface="Arial"/>
                <a:ea typeface="Arial"/>
                <a:cs typeface="Arial"/>
              </a:defRPr>
            </a:pPr>
            <a:r>
              <a:t>ЛОКАЛЬНАЯ ОБРАБОТКА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DFBC0A8E-BD7D-423D-9FCE-0BA1D909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2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Разговор остаётся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2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на вашем устройстве.</a:t>
            </a:r>
          </a:p>
        </p:txBody>
      </p:sp>
      <p:sp>
        <p:nvSpPr>
          <p:cNvPr id="4" name="device-boundary">
            <a:extLst xmlns:a="http://schemas.openxmlformats.org/drawingml/2006/main">
              <a:ext uri="{FF2B5EF4-FFF2-40B4-BE49-F238E27FC236}">
                <a16:creationId xmlns:a16="http://schemas.microsoft.com/office/drawing/2014/main" id="{1CD2B0B6-CD0A-4C36-812C-1EF18E0B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2981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732"/>
          </a:solidFill>
          <a:ln xmlns:a="http://schemas.openxmlformats.org/drawingml/2006/main" w="9525">
            <a:solidFill>
              <a:srgbClr val="7D8C68"/>
            </a:solidFill>
            <a:prstDash val="solid"/>
          </a:ln>
        </p:spPr>
      </p:sp>
      <p:sp>
        <p:nvSpPr>
          <p:cNvPr id="5" name="boundary-label">
            <a:extLst xmlns:a="http://schemas.openxmlformats.org/drawingml/2006/main">
              <a:ext uri="{FF2B5EF4-FFF2-40B4-BE49-F238E27FC236}">
                <a16:creationId xmlns:a16="http://schemas.microsoft.com/office/drawing/2014/main" id="{10E1E95F-5D7C-4DAE-8D55-A5C10B3B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10429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CCD6A3"/>
                </a:solidFill>
                <a:latin typeface="Arial"/>
                <a:ea typeface="Arial"/>
                <a:cs typeface="Arial"/>
              </a:defRPr>
            </a:pPr>
            <a:r>
              <a:t>ОДНО УСТРОЙСТВО · МОДЕЛИ РАБОТАЮТ ПО ОЧЕРЕДИ</a:t>
            </a:r>
          </a:p>
        </p:txBody>
      </p:sp>
      <p:sp>
        <p:nvSpPr>
          <p:cNvPr id="6" name="model-0">
            <a:extLst xmlns:a="http://schemas.openxmlformats.org/drawingml/2006/main">
              <a:ext uri="{FF2B5EF4-FFF2-40B4-BE49-F238E27FC236}">
                <a16:creationId xmlns:a16="http://schemas.microsoft.com/office/drawing/2014/main" id="{A818EB6E-941B-4CA8-B449-13A38C18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629025"/>
            <a:ext cx="314325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model-name-0">
            <a:extLst xmlns:a="http://schemas.openxmlformats.org/drawingml/2006/main">
              <a:ext uri="{FF2B5EF4-FFF2-40B4-BE49-F238E27FC236}">
                <a16:creationId xmlns:a16="http://schemas.microsoft.com/office/drawing/2014/main" id="{21282A94-5289-4337-9D1C-916D545E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9525"/>
            <a:ext cx="26860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3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Whisper</a:t>
            </a:r>
          </a:p>
        </p:txBody>
      </p:sp>
      <p:sp>
        <p:nvSpPr>
          <p:cNvPr id="8" name="model-job-0">
            <a:extLst xmlns:a="http://schemas.openxmlformats.org/drawingml/2006/main">
              <a:ext uri="{FF2B5EF4-FFF2-40B4-BE49-F238E27FC236}">
                <a16:creationId xmlns:a16="http://schemas.microsoft.com/office/drawing/2014/main" id="{3C6E603E-CFB4-4B46-BCB8-6889E631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71975"/>
            <a:ext cx="267652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>
                <a:solidFill>
                  <a:srgbClr val="CCD6A3"/>
                </a:solidFill>
                <a:latin typeface="Arial"/>
                <a:ea typeface="Arial"/>
                <a:cs typeface="Arial"/>
              </a:defRPr>
            </a:pPr>
            <a:r>
              <a:t>Речь → текст</a:t>
            </a:r>
          </a:p>
        </p:txBody>
      </p:sp>
      <p:sp>
        <p:nvSpPr>
          <p:cNvPr id="9" name="model-1">
            <a:extLst xmlns:a="http://schemas.openxmlformats.org/drawingml/2006/main">
              <a:ext uri="{FF2B5EF4-FFF2-40B4-BE49-F238E27FC236}">
                <a16:creationId xmlns:a16="http://schemas.microsoft.com/office/drawing/2014/main" id="{19EA621A-2515-4E85-9AED-D3BB1D77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629025"/>
            <a:ext cx="314325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model-name-1">
            <a:extLst xmlns:a="http://schemas.openxmlformats.org/drawingml/2006/main">
              <a:ext uri="{FF2B5EF4-FFF2-40B4-BE49-F238E27FC236}">
                <a16:creationId xmlns:a16="http://schemas.microsoft.com/office/drawing/2014/main" id="{E67B7BCF-51EA-4BEE-BCA7-512F1598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19525"/>
            <a:ext cx="26860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3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Sortformer</a:t>
            </a:r>
          </a:p>
        </p:txBody>
      </p:sp>
      <p:sp>
        <p:nvSpPr>
          <p:cNvPr id="11" name="model-job-1">
            <a:extLst xmlns:a="http://schemas.openxmlformats.org/drawingml/2006/main">
              <a:ext uri="{FF2B5EF4-FFF2-40B4-BE49-F238E27FC236}">
                <a16:creationId xmlns:a16="http://schemas.microsoft.com/office/drawing/2014/main" id="{F0F106C6-C353-4E45-87F0-DF28A842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371975"/>
            <a:ext cx="267652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>
                <a:solidFill>
                  <a:srgbClr val="CCD6A3"/>
                </a:solidFill>
                <a:latin typeface="Arial"/>
                <a:ea typeface="Arial"/>
                <a:cs typeface="Arial"/>
              </a:defRPr>
            </a:pPr>
            <a:r>
              <a:t>Кто говорит</a:t>
            </a:r>
          </a:p>
        </p:txBody>
      </p:sp>
      <p:sp>
        <p:nvSpPr>
          <p:cNvPr id="12" name="model-2">
            <a:extLst xmlns:a="http://schemas.openxmlformats.org/drawingml/2006/main">
              <a:ext uri="{FF2B5EF4-FFF2-40B4-BE49-F238E27FC236}">
                <a16:creationId xmlns:a16="http://schemas.microsoft.com/office/drawing/2014/main" id="{959911F8-BF1A-4AD8-92E4-273F0222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629025"/>
            <a:ext cx="314325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5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model-name-2">
            <a:extLst xmlns:a="http://schemas.openxmlformats.org/drawingml/2006/main">
              <a:ext uri="{FF2B5EF4-FFF2-40B4-BE49-F238E27FC236}">
                <a16:creationId xmlns:a16="http://schemas.microsoft.com/office/drawing/2014/main" id="{1B13C38A-6CC8-44BF-B8BC-FFC262C5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19525"/>
            <a:ext cx="26860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3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Qwen + Ollama</a:t>
            </a:r>
          </a:p>
        </p:txBody>
      </p:sp>
      <p:sp>
        <p:nvSpPr>
          <p:cNvPr id="14" name="model-job-2">
            <a:extLst xmlns:a="http://schemas.openxmlformats.org/drawingml/2006/main">
              <a:ext uri="{FF2B5EF4-FFF2-40B4-BE49-F238E27FC236}">
                <a16:creationId xmlns:a16="http://schemas.microsoft.com/office/drawing/2014/main" id="{683E73B1-35D8-4D01-982C-24FE673B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71975"/>
            <a:ext cx="267652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>
                <a:solidFill>
                  <a:srgbClr val="CCD6A3"/>
                </a:solidFill>
                <a:latin typeface="Arial"/>
                <a:ea typeface="Arial"/>
                <a:cs typeface="Arial"/>
              </a:defRPr>
            </a:pPr>
            <a:r>
              <a:t>Текст → протокол</a:t>
            </a:r>
          </a:p>
        </p:txBody>
      </p:sp>
      <p:sp>
        <p:nvSpPr>
          <p:cNvPr id="15" name="local-storage">
            <a:extLst xmlns:a="http://schemas.openxmlformats.org/drawingml/2006/main">
              <a:ext uri="{FF2B5EF4-FFF2-40B4-BE49-F238E27FC236}">
                <a16:creationId xmlns:a16="http://schemas.microsoft.com/office/drawing/2014/main" id="{0744F804-9BF9-468C-B8ED-E901EA4E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53025"/>
            <a:ext cx="10334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6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Запись, источники и история — в локальном хранилище.</a:t>
            </a:r>
          </a:p>
        </p:txBody>
      </p:sp>
      <p:sp>
        <p:nvSpPr>
          <p:cNvPr id="16" name="offline-result">
            <a:extLst xmlns:a="http://schemas.openxmlformats.org/drawingml/2006/main">
              <a:ext uri="{FF2B5EF4-FFF2-40B4-BE49-F238E27FC236}">
                <a16:creationId xmlns:a16="http://schemas.microsoft.com/office/drawing/2014/main" id="{5C5A0076-DD8F-41E5-AFBB-5D756981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53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>
                <a:solidFill>
                  <a:srgbClr val="CCD6A3"/>
                </a:solidFill>
                <a:latin typeface="Arial"/>
                <a:ea typeface="Arial"/>
                <a:cs typeface="Arial"/>
              </a:defRPr>
            </a:pPr>
            <a:r>
              <a:t>Интернет не нужен для транскрибации и отчёта после установки.</a:t>
            </a:r>
          </a:p>
        </p:txBody>
      </p:sp>
      <p:sp>
        <p:nvSpPr>
          <p:cNvPr id="17" name="source-note">
            <a:extLst xmlns:a="http://schemas.openxmlformats.org/drawingml/2006/main">
              <a:ext uri="{FF2B5EF4-FFF2-40B4-BE49-F238E27FC236}">
                <a16:creationId xmlns:a16="http://schemas.microsoft.com/office/drawing/2014/main" id="{33374791-700F-4FC7-AF06-B4878A73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825">
                <a:solidFill>
                  <a:srgbClr val="AAB49D"/>
                </a:solidFill>
                <a:latin typeface="Arial"/>
                <a:ea typeface="Arial"/>
                <a:cs typeface="Arial"/>
              </a:defRPr>
            </a:pPr>
            <a:r>
              <a:t>Whisper → Sortformer (опционально) → Qwen · Notion — отдельный онлайн-экспорт</a:t>
            </a:r>
          </a:p>
        </p:txBody>
      </p:sp>
      <p:sp>
        <p:nvSpPr>
          <p:cNvPr id="1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DD28B82-31BF-4771-87D5-8935A3A5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1050">
                <a:solidFill>
                  <a:srgbClr val="CCD6A3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cxnSp>
        <p:nvCxnSpPr>
          <p:cNvPr id="1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162425" y="4214813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CD6A3"/>
            </a:solidFill>
            <a:prstDash val="solid"/>
            <a:tailEnd type="arrow" w="med" len="med"/>
          </a:ln>
        </p:spPr>
      </p:cxnSp>
      <p:cxnSp>
        <p:nvCxnSpPr>
          <p:cNvPr id="2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667625" y="4214813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CD6A3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544534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B7B7375-D57B-449B-87EE-FAA3C7C7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B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FE1191E-6BC4-498B-AC2C-B1447317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3375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050">
                <a:solidFill>
                  <a:srgbClr val="596B29"/>
                </a:solidFill>
                <a:latin typeface="Arial"/>
                <a:ea typeface="Arial"/>
                <a:cs typeface="Arial"/>
              </a:defRPr>
            </a:pPr>
            <a:r>
              <a:t>ОТ ПРОТОКОЛА К ДЕЙСТВИЮ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7EC4C937-13EA-434C-8BB4-AE4AE06B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>
                <a:solidFill>
                  <a:srgbClr val="30372C"/>
                </a:solidFill>
                <a:latin typeface="Georgia"/>
                <a:ea typeface="Georgia"/>
                <a:cs typeface="Georgia"/>
              </a:defRPr>
            </a:pPr>
            <a:r>
              <a:t>Ответ найден.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>
                <a:solidFill>
                  <a:srgbClr val="30372C"/>
                </a:solidFill>
                <a:latin typeface="Georgia"/>
                <a:ea typeface="Georgia"/>
                <a:cs typeface="Georgia"/>
              </a:defRPr>
            </a:pPr>
            <a:r>
              <a:t>Следующий шаг — рядом.</a:t>
            </a:r>
          </a:p>
        </p:txBody>
      </p:sp>
      <p:sp>
        <p:nvSpPr>
          <p:cNvPr id="4" name="row-rule-0">
            <a:extLst xmlns:a="http://schemas.openxmlformats.org/drawingml/2006/main">
              <a:ext uri="{FF2B5EF4-FFF2-40B4-BE49-F238E27FC236}">
                <a16:creationId xmlns:a16="http://schemas.microsoft.com/office/drawing/2014/main" id="{2B76CEA4-A2CA-43B8-958A-BBC3DBB8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ow-number-0">
            <a:extLst xmlns:a="http://schemas.openxmlformats.org/drawingml/2006/main">
              <a:ext uri="{FF2B5EF4-FFF2-40B4-BE49-F238E27FC236}">
                <a16:creationId xmlns:a16="http://schemas.microsoft.com/office/drawing/2014/main" id="{2F1BC234-33A7-478A-9AC6-50A0ABE4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6572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025">
                <a:solidFill>
                  <a:srgbClr val="596B29"/>
                </a:solidFill>
                <a:latin typeface="Georgia"/>
                <a:ea typeface="Georgia"/>
                <a:cs typeface="Georgia"/>
              </a:defRPr>
            </a:pPr>
            <a:r>
              <a:t>01</a:t>
            </a:r>
          </a:p>
        </p:txBody>
      </p:sp>
      <p:sp>
        <p:nvSpPr>
          <p:cNvPr id="6" name="row-question-0">
            <a:extLst xmlns:a="http://schemas.openxmlformats.org/drawingml/2006/main">
              <a:ext uri="{FF2B5EF4-FFF2-40B4-BE49-F238E27FC236}">
                <a16:creationId xmlns:a16="http://schemas.microsoft.com/office/drawing/2014/main" id="{6E1DC3FB-F8FF-4CF1-B8D2-9A4C925C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05125"/>
            <a:ext cx="406717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325">
                <a:solidFill>
                  <a:srgbClr val="30372C"/>
                </a:solidFill>
                <a:latin typeface="Georgia"/>
                <a:ea typeface="Georgia"/>
                <a:cs typeface="Georgia"/>
              </a:defRPr>
            </a:pPr>
            <a:r>
              <a:t>Кто это сказал?</a:t>
            </a:r>
          </a:p>
        </p:txBody>
      </p:sp>
      <p:sp>
        <p:nvSpPr>
          <p:cNvPr id="7" name="row-answer-0">
            <a:extLst xmlns:a="http://schemas.openxmlformats.org/drawingml/2006/main">
              <a:ext uri="{FF2B5EF4-FFF2-40B4-BE49-F238E27FC236}">
                <a16:creationId xmlns:a16="http://schemas.microsoft.com/office/drawing/2014/main" id="{9DF9E3C4-96E2-47F4-94B2-713AA5BA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876550"/>
            <a:ext cx="54578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>
                <a:solidFill>
                  <a:srgbClr val="596B29"/>
                </a:solidFill>
                <a:latin typeface="Arial"/>
                <a:ea typeface="Arial"/>
                <a:cs typeface="Arial"/>
              </a:defRPr>
            </a:pPr>
            <a:r>
              <a:t>Спикеры и чат с цитатами</a:t>
            </a:r>
          </a:p>
        </p:txBody>
      </p:sp>
      <p:sp>
        <p:nvSpPr>
          <p:cNvPr id="8" name="row-detail-0">
            <a:extLst xmlns:a="http://schemas.openxmlformats.org/drawingml/2006/main">
              <a:ext uri="{FF2B5EF4-FFF2-40B4-BE49-F238E27FC236}">
                <a16:creationId xmlns:a16="http://schemas.microsoft.com/office/drawing/2014/main" id="{8FD3BB12-E5F6-4A7B-A2C3-A2EA7031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314700"/>
            <a:ext cx="54483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Вопрос можно связать с конкретным голосом.</a:t>
            </a:r>
          </a:p>
        </p:txBody>
      </p:sp>
      <p:sp>
        <p:nvSpPr>
          <p:cNvPr id="9" name="row-rule-1">
            <a:extLst xmlns:a="http://schemas.openxmlformats.org/drawingml/2006/main">
              <a:ext uri="{FF2B5EF4-FFF2-40B4-BE49-F238E27FC236}">
                <a16:creationId xmlns:a16="http://schemas.microsoft.com/office/drawing/2014/main" id="{410BD599-B861-4E34-BD23-68165480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ow-number-1">
            <a:extLst xmlns:a="http://schemas.openxmlformats.org/drawingml/2006/main">
              <a:ext uri="{FF2B5EF4-FFF2-40B4-BE49-F238E27FC236}">
                <a16:creationId xmlns:a16="http://schemas.microsoft.com/office/drawing/2014/main" id="{895E9161-0981-43A5-97A7-4EFA4AE4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6572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025">
                <a:solidFill>
                  <a:srgbClr val="596B29"/>
                </a:solidFill>
                <a:latin typeface="Georgia"/>
                <a:ea typeface="Georgia"/>
                <a:cs typeface="Georgia"/>
              </a:defRPr>
            </a:pPr>
            <a:r>
              <a:t>02</a:t>
            </a:r>
          </a:p>
        </p:txBody>
      </p:sp>
      <p:sp>
        <p:nvSpPr>
          <p:cNvPr id="11" name="row-question-1">
            <a:extLst xmlns:a="http://schemas.openxmlformats.org/drawingml/2006/main">
              <a:ext uri="{FF2B5EF4-FFF2-40B4-BE49-F238E27FC236}">
                <a16:creationId xmlns:a16="http://schemas.microsoft.com/office/drawing/2014/main" id="{5C463BF9-CC73-42BA-98CD-E2E43E69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05275"/>
            <a:ext cx="406717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325">
                <a:solidFill>
                  <a:srgbClr val="30372C"/>
                </a:solidFill>
                <a:latin typeface="Georgia"/>
                <a:ea typeface="Georgia"/>
                <a:cs typeface="Georgia"/>
              </a:defRPr>
            </a:pPr>
            <a:r>
              <a:t>На каком языке?</a:t>
            </a:r>
          </a:p>
        </p:txBody>
      </p:sp>
      <p:sp>
        <p:nvSpPr>
          <p:cNvPr id="12" name="row-answer-1">
            <a:extLst xmlns:a="http://schemas.openxmlformats.org/drawingml/2006/main">
              <a:ext uri="{FF2B5EF4-FFF2-40B4-BE49-F238E27FC236}">
                <a16:creationId xmlns:a16="http://schemas.microsoft.com/office/drawing/2014/main" id="{392A27D5-CAB2-417A-A74C-D89DC57E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076700"/>
            <a:ext cx="54578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>
                <a:solidFill>
                  <a:srgbClr val="596B29"/>
                </a:solidFill>
                <a:latin typeface="Arial"/>
                <a:ea typeface="Arial"/>
                <a:cs typeface="Arial"/>
              </a:defRPr>
            </a:pPr>
            <a:r>
              <a:t>Русский · Қазақша · English</a:t>
            </a:r>
          </a:p>
        </p:txBody>
      </p:sp>
      <p:sp>
        <p:nvSpPr>
          <p:cNvPr id="13" name="row-detail-1">
            <a:extLst xmlns:a="http://schemas.openxmlformats.org/drawingml/2006/main">
              <a:ext uri="{FF2B5EF4-FFF2-40B4-BE49-F238E27FC236}">
                <a16:creationId xmlns:a16="http://schemas.microsoft.com/office/drawing/2014/main" id="{2D141EC0-0A25-4686-B013-D022D43E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514850"/>
            <a:ext cx="54483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Язык речи и язык отчёта выбираются отдельно.</a:t>
            </a:r>
          </a:p>
        </p:txBody>
      </p:sp>
      <p:sp>
        <p:nvSpPr>
          <p:cNvPr id="14" name="row-rule-2">
            <a:extLst xmlns:a="http://schemas.openxmlformats.org/drawingml/2006/main">
              <a:ext uri="{FF2B5EF4-FFF2-40B4-BE49-F238E27FC236}">
                <a16:creationId xmlns:a16="http://schemas.microsoft.com/office/drawing/2014/main" id="{AFCCF749-1C9A-4D71-85AE-5063AE27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ow-number-2">
            <a:extLst xmlns:a="http://schemas.openxmlformats.org/drawingml/2006/main">
              <a:ext uri="{FF2B5EF4-FFF2-40B4-BE49-F238E27FC236}">
                <a16:creationId xmlns:a16="http://schemas.microsoft.com/office/drawing/2014/main" id="{2CACE807-0D96-4F83-A4B7-EC8494DD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6572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025">
                <a:solidFill>
                  <a:srgbClr val="596B29"/>
                </a:solidFill>
                <a:latin typeface="Georgia"/>
                <a:ea typeface="Georgia"/>
                <a:cs typeface="Georgia"/>
              </a:defRPr>
            </a:pPr>
            <a:r>
              <a:t>03</a:t>
            </a:r>
          </a:p>
        </p:txBody>
      </p:sp>
      <p:sp>
        <p:nvSpPr>
          <p:cNvPr id="16" name="row-question-2">
            <a:extLst xmlns:a="http://schemas.openxmlformats.org/drawingml/2006/main">
              <a:ext uri="{FF2B5EF4-FFF2-40B4-BE49-F238E27FC236}">
                <a16:creationId xmlns:a16="http://schemas.microsoft.com/office/drawing/2014/main" id="{DB700A90-CF90-408F-9E3F-5E7E83DB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05425"/>
            <a:ext cx="406717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325">
                <a:solidFill>
                  <a:srgbClr val="30372C"/>
                </a:solidFill>
                <a:latin typeface="Georgia"/>
                <a:ea typeface="Georgia"/>
                <a:cs typeface="Georgia"/>
              </a:defRPr>
            </a:pPr>
            <a:r>
              <a:t>Что делать дальше?</a:t>
            </a:r>
          </a:p>
        </p:txBody>
      </p:sp>
      <p:sp>
        <p:nvSpPr>
          <p:cNvPr id="17" name="row-answer-2">
            <a:extLst xmlns:a="http://schemas.openxmlformats.org/drawingml/2006/main">
              <a:ext uri="{FF2B5EF4-FFF2-40B4-BE49-F238E27FC236}">
                <a16:creationId xmlns:a16="http://schemas.microsoft.com/office/drawing/2014/main" id="{D90F303F-8EA7-496C-B47B-DD914634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276850"/>
            <a:ext cx="54578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>
                <a:solidFill>
                  <a:srgbClr val="596B29"/>
                </a:solidFill>
                <a:latin typeface="Arial"/>
                <a:ea typeface="Arial"/>
                <a:cs typeface="Arial"/>
              </a:defRPr>
            </a:pPr>
            <a:r>
              <a:t>JSON · CSV · календарь .ics</a:t>
            </a:r>
          </a:p>
        </p:txBody>
      </p:sp>
      <p:sp>
        <p:nvSpPr>
          <p:cNvPr id="18" name="row-detail-2">
            <a:extLst xmlns:a="http://schemas.openxmlformats.org/drawingml/2006/main">
              <a:ext uri="{FF2B5EF4-FFF2-40B4-BE49-F238E27FC236}">
                <a16:creationId xmlns:a16="http://schemas.microsoft.com/office/drawing/2014/main" id="{9F3032DB-B82B-4403-992B-69A8A43D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715000"/>
            <a:ext cx="54483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Notion — по отдельному онлайн-действию.</a:t>
            </a:r>
          </a:p>
        </p:txBody>
      </p:sp>
      <p:sp>
        <p:nvSpPr>
          <p:cNvPr id="19" name="source-note">
            <a:extLst xmlns:a="http://schemas.openxmlformats.org/drawingml/2006/main">
              <a:ext uri="{FF2B5EF4-FFF2-40B4-BE49-F238E27FC236}">
                <a16:creationId xmlns:a16="http://schemas.microsoft.com/office/drawing/2014/main" id="{43DABD80-86CC-4131-B7CF-DF90E334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825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Возможности текущей версии · качество зависит от записи; языковые измерения — в резервных слайдах</a:t>
            </a:r>
          </a:p>
        </p:txBody>
      </p:sp>
      <p:sp>
        <p:nvSpPr>
          <p:cNvPr id="2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4E3B83E-49C7-4CCB-9196-1F2E6E67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1050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125076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DC70547-4ED0-435D-AFAA-C1E90340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B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A3B8300-E18F-4660-8AE0-367A4007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3375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050">
                <a:solidFill>
                  <a:srgbClr val="596B29"/>
                </a:solidFill>
                <a:latin typeface="Arial"/>
                <a:ea typeface="Arial"/>
                <a:cs typeface="Arial"/>
              </a:defRPr>
            </a:pPr>
            <a:r>
              <a:t>ДЕМОНСТРАЦИЯ · 60 СЕКУНД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19B7DE07-CA03-4705-A857-E290B2C0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3000">
                <a:solidFill>
                  <a:srgbClr val="30372C"/>
                </a:solidFill>
                <a:latin typeface="Georgia"/>
                <a:ea typeface="Georgia"/>
                <a:cs typeface="Georgia"/>
              </a:defRPr>
            </a:pPr>
            <a:r>
              <a:t>Проверим одну договорённость.</a:t>
            </a:r>
          </a:p>
        </p:txBody>
      </p:sp>
      <p:sp>
        <p:nvSpPr>
          <p:cNvPr id="4" name="video-frame">
            <a:extLst xmlns:a="http://schemas.openxmlformats.org/drawingml/2006/main">
              <a:ext uri="{FF2B5EF4-FFF2-40B4-BE49-F238E27FC236}">
                <a16:creationId xmlns:a16="http://schemas.microsoft.com/office/drawing/2014/main" id="{CF314FBF-4F2E-4B81-A6FB-00D8749A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323975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demo-video-post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25da15f2c74f16"/>
          <a:stretch xmlns:a="http://schemas.openxmlformats.org/drawingml/2006/main"/>
        </p:blipFill>
        <p:spPr>
          <a:xfrm xmlns:a="http://schemas.openxmlformats.org/drawingml/2006/main">
            <a:off x="1524000" y="1323975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6" name="video-title-band">
            <a:extLst xmlns:a="http://schemas.openxmlformats.org/drawingml/2006/main">
              <a:ext uri="{FF2B5EF4-FFF2-40B4-BE49-F238E27FC236}">
                <a16:creationId xmlns:a16="http://schemas.microsoft.com/office/drawing/2014/main" id="{B81F60A5-1C14-4A6B-89F0-FA3D815C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91075"/>
            <a:ext cx="9144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C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video-caption">
            <a:extLst xmlns:a="http://schemas.openxmlformats.org/drawingml/2006/main">
              <a:ext uri="{FF2B5EF4-FFF2-40B4-BE49-F238E27FC236}">
                <a16:creationId xmlns:a16="http://schemas.microsoft.com/office/drawing/2014/main" id="{03DDD86D-D273-4F67-B392-50327B36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095875"/>
            <a:ext cx="839152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3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Запись → поручение → источник → экспорт</a:t>
            </a:r>
          </a:p>
        </p:txBody>
      </p:sp>
      <p:sp>
        <p:nvSpPr>
          <p:cNvPr id="8" name="video-subcaption">
            <a:extLst xmlns:a="http://schemas.openxmlformats.org/drawingml/2006/main">
              <a:ext uri="{FF2B5EF4-FFF2-40B4-BE49-F238E27FC236}">
                <a16:creationId xmlns:a16="http://schemas.microsoft.com/office/drawing/2014/main" id="{15E22615-AAC9-41F5-9AED-D1846970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781675"/>
            <a:ext cx="7620000" cy="352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650">
                <a:solidFill>
                  <a:srgbClr val="CCD6A3"/>
                </a:solidFill>
                <a:latin typeface="Arial"/>
                <a:ea typeface="Arial"/>
                <a:cs typeface="Arial"/>
              </a:defRPr>
            </a:pPr>
            <a:r>
              <a:t>Megan в работе</a:t>
            </a:r>
          </a:p>
        </p:txBody>
      </p:sp>
      <p:sp>
        <p:nvSpPr>
          <p:cNvPr id="9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17309D2-ADD6-462E-B64E-FF7027DD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825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Демо Megan · подготовленная запись · источники и экспорт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411766B-87FC-46F0-8386-594C0D07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1050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175584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12E0845-55BB-4673-B418-1FDFAA99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B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401A2B3-FFA4-4385-95C9-A3081DD7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3375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050">
                <a:solidFill>
                  <a:srgbClr val="596B29"/>
                </a:solidFill>
                <a:latin typeface="Arial"/>
                <a:ea typeface="Arial"/>
                <a:cs typeface="Arial"/>
              </a:defRPr>
            </a:pPr>
            <a:r>
              <a:t>ПРОВЕРЕНО НА РЕАЛЬНОЙ ЗАПИСИ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489B418B-FD15-437D-9AAB-59D48D9E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>
                <a:solidFill>
                  <a:srgbClr val="30372C"/>
                </a:solidFill>
                <a:latin typeface="Georgia"/>
                <a:ea typeface="Georgia"/>
                <a:cs typeface="Georgia"/>
              </a:defRPr>
            </a:pPr>
            <a:r>
              <a:t>Две минуты речи —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>
                <a:solidFill>
                  <a:srgbClr val="30372C"/>
                </a:solidFill>
                <a:latin typeface="Georgia"/>
                <a:ea typeface="Georgia"/>
                <a:cs typeface="Georgia"/>
              </a:defRPr>
            </a:pPr>
            <a:r>
              <a:t>и протокол за 2:12.</a:t>
            </a:r>
          </a:p>
        </p:txBody>
      </p:sp>
      <p:sp>
        <p:nvSpPr>
          <p:cNvPr id="4" name="input-time">
            <a:extLst xmlns:a="http://schemas.openxmlformats.org/drawingml/2006/main">
              <a:ext uri="{FF2B5EF4-FFF2-40B4-BE49-F238E27FC236}">
                <a16:creationId xmlns:a16="http://schemas.microsoft.com/office/drawing/2014/main" id="{11D35BBE-8E38-48D6-9A76-D9333E72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191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6150">
                <a:solidFill>
                  <a:srgbClr val="30372C"/>
                </a:solidFill>
                <a:latin typeface="Georgia"/>
                <a:ea typeface="Georgia"/>
                <a:cs typeface="Georgia"/>
              </a:defRPr>
            </a:pPr>
            <a:r>
              <a:t>2:00</a:t>
            </a:r>
          </a:p>
        </p:txBody>
      </p:sp>
      <p:sp>
        <p:nvSpPr>
          <p:cNvPr id="5" name="input-time-label">
            <a:extLst xmlns:a="http://schemas.openxmlformats.org/drawingml/2006/main">
              <a:ext uri="{FF2B5EF4-FFF2-40B4-BE49-F238E27FC236}">
                <a16:creationId xmlns:a16="http://schemas.microsoft.com/office/drawing/2014/main" id="{3C56735A-DFB3-4C65-8A8B-4979DBF3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457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650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человеческой русской речи</a:t>
            </a:r>
          </a:p>
        </p:txBody>
      </p:sp>
      <p:sp>
        <p:nvSpPr>
          <p:cNvPr id="6" name="time-rule">
            <a:extLst xmlns:a="http://schemas.openxmlformats.org/drawingml/2006/main">
              <a:ext uri="{FF2B5EF4-FFF2-40B4-BE49-F238E27FC236}">
                <a16:creationId xmlns:a16="http://schemas.microsoft.com/office/drawing/2014/main" id="{342FD7DB-77C1-411A-B176-88888CDF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output-time">
            <a:extLst xmlns:a="http://schemas.openxmlformats.org/drawingml/2006/main">
              <a:ext uri="{FF2B5EF4-FFF2-40B4-BE49-F238E27FC236}">
                <a16:creationId xmlns:a16="http://schemas.microsoft.com/office/drawing/2014/main" id="{BC045947-AEE2-463F-AB55-37636041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4191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6150">
                <a:solidFill>
                  <a:srgbClr val="596B29"/>
                </a:solidFill>
                <a:latin typeface="Georgia"/>
                <a:ea typeface="Georgia"/>
                <a:cs typeface="Georgia"/>
              </a:defRPr>
            </a:pPr>
            <a:r>
              <a:t>2:12</a:t>
            </a:r>
          </a:p>
        </p:txBody>
      </p:sp>
      <p:sp>
        <p:nvSpPr>
          <p:cNvPr id="8" name="output-time-label">
            <a:extLst xmlns:a="http://schemas.openxmlformats.org/drawingml/2006/main">
              <a:ext uri="{FF2B5EF4-FFF2-40B4-BE49-F238E27FC236}">
                <a16:creationId xmlns:a16="http://schemas.microsoft.com/office/drawing/2014/main" id="{3B18A804-36BC-48C5-8851-441C3108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472440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575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до готового отчёта после загрузки</a:t>
            </a:r>
          </a:p>
        </p:txBody>
      </p:sp>
      <p:sp>
        <p:nvSpPr>
          <p:cNvPr id="9" name="stage-name-0">
            <a:extLst xmlns:a="http://schemas.openxmlformats.org/drawingml/2006/main">
              <a:ext uri="{FF2B5EF4-FFF2-40B4-BE49-F238E27FC236}">
                <a16:creationId xmlns:a16="http://schemas.microsoft.com/office/drawing/2014/main" id="{B92535B5-CFD2-4282-8196-B936D456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00350"/>
            <a:ext cx="3667125" cy="352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725">
                <a:solidFill>
                  <a:srgbClr val="30372C"/>
                </a:solidFill>
                <a:latin typeface="Arial"/>
                <a:ea typeface="Arial"/>
                <a:cs typeface="Arial"/>
              </a:defRPr>
            </a:pPr>
            <a:r>
              <a:t>Whisper · речь</a:t>
            </a:r>
          </a:p>
        </p:txBody>
      </p:sp>
      <p:sp>
        <p:nvSpPr>
          <p:cNvPr id="10" name="stage-time-0">
            <a:extLst xmlns:a="http://schemas.openxmlformats.org/drawingml/2006/main">
              <a:ext uri="{FF2B5EF4-FFF2-40B4-BE49-F238E27FC236}">
                <a16:creationId xmlns:a16="http://schemas.microsoft.com/office/drawing/2014/main" id="{65D413AE-37D3-4832-AAF2-9F5373E4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800350"/>
            <a:ext cx="1438275" cy="352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1575">
                <a:solidFill>
                  <a:srgbClr val="596B29"/>
                </a:solidFill>
                <a:latin typeface="Arial"/>
                <a:ea typeface="Arial"/>
                <a:cs typeface="Arial"/>
              </a:defRPr>
            </a:pPr>
            <a:r>
              <a:t>10,47 с</a:t>
            </a:r>
          </a:p>
        </p:txBody>
      </p:sp>
      <p:sp>
        <p:nvSpPr>
          <p:cNvPr id="11" name="stage-bar-0">
            <a:extLst xmlns:a="http://schemas.openxmlformats.org/drawingml/2006/main">
              <a:ext uri="{FF2B5EF4-FFF2-40B4-BE49-F238E27FC236}">
                <a16:creationId xmlns:a16="http://schemas.microsoft.com/office/drawing/2014/main" id="{B86691D3-B889-494A-8052-5FAC77D1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48261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tage-name-1">
            <a:extLst xmlns:a="http://schemas.openxmlformats.org/drawingml/2006/main">
              <a:ext uri="{FF2B5EF4-FFF2-40B4-BE49-F238E27FC236}">
                <a16:creationId xmlns:a16="http://schemas.microsoft.com/office/drawing/2014/main" id="{7681D482-5B35-45AF-BE3B-931B9770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67150"/>
            <a:ext cx="3667125" cy="352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725">
                <a:solidFill>
                  <a:srgbClr val="30372C"/>
                </a:solidFill>
                <a:latin typeface="Arial"/>
                <a:ea typeface="Arial"/>
                <a:cs typeface="Arial"/>
              </a:defRPr>
            </a:pPr>
            <a:r>
              <a:t>Sortformer · голоса</a:t>
            </a:r>
          </a:p>
        </p:txBody>
      </p:sp>
      <p:sp>
        <p:nvSpPr>
          <p:cNvPr id="13" name="stage-time-1">
            <a:extLst xmlns:a="http://schemas.openxmlformats.org/drawingml/2006/main">
              <a:ext uri="{FF2B5EF4-FFF2-40B4-BE49-F238E27FC236}">
                <a16:creationId xmlns:a16="http://schemas.microsoft.com/office/drawing/2014/main" id="{2C9DDB6C-5F11-4B27-8CF5-E655C9AE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867150"/>
            <a:ext cx="1438275" cy="352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1575">
                <a:solidFill>
                  <a:srgbClr val="596B29"/>
                </a:solidFill>
                <a:latin typeface="Arial"/>
                <a:ea typeface="Arial"/>
                <a:cs typeface="Arial"/>
              </a:defRPr>
            </a:pPr>
            <a:r>
              <a:t>5,19 с</a:t>
            </a:r>
          </a:p>
        </p:txBody>
      </p:sp>
      <p:sp>
        <p:nvSpPr>
          <p:cNvPr id="14" name="stage-bar-1">
            <a:extLst xmlns:a="http://schemas.openxmlformats.org/drawingml/2006/main">
              <a:ext uri="{FF2B5EF4-FFF2-40B4-BE49-F238E27FC236}">
                <a16:creationId xmlns:a16="http://schemas.microsoft.com/office/drawing/2014/main" id="{994AD983-1395-4D18-B5A1-84B4313F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71975"/>
            <a:ext cx="2392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B2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tage-name-2">
            <a:extLst xmlns:a="http://schemas.openxmlformats.org/drawingml/2006/main">
              <a:ext uri="{FF2B5EF4-FFF2-40B4-BE49-F238E27FC236}">
                <a16:creationId xmlns:a16="http://schemas.microsoft.com/office/drawing/2014/main" id="{A07FBD4B-757F-4F5D-ACFC-4B0EC734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33950"/>
            <a:ext cx="3667125" cy="352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725">
                <a:solidFill>
                  <a:srgbClr val="30372C"/>
                </a:solidFill>
                <a:latin typeface="Arial"/>
                <a:ea typeface="Arial"/>
                <a:cs typeface="Arial"/>
              </a:defRPr>
            </a:pPr>
            <a:r>
              <a:t>Qwen · протокол</a:t>
            </a:r>
          </a:p>
        </p:txBody>
      </p:sp>
      <p:sp>
        <p:nvSpPr>
          <p:cNvPr id="16" name="stage-time-2">
            <a:extLst xmlns:a="http://schemas.openxmlformats.org/drawingml/2006/main">
              <a:ext uri="{FF2B5EF4-FFF2-40B4-BE49-F238E27FC236}">
                <a16:creationId xmlns:a16="http://schemas.microsoft.com/office/drawing/2014/main" id="{6A619704-18BE-4406-B4BA-453D57AC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933950"/>
            <a:ext cx="1438275" cy="352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1575">
                <a:solidFill>
                  <a:srgbClr val="596B29"/>
                </a:solidFill>
                <a:latin typeface="Arial"/>
                <a:ea typeface="Arial"/>
                <a:cs typeface="Arial"/>
              </a:defRPr>
            </a:pPr>
            <a:r>
              <a:t>115,35 с</a:t>
            </a:r>
          </a:p>
        </p:txBody>
      </p:sp>
      <p:sp>
        <p:nvSpPr>
          <p:cNvPr id="17" name="stage-bar-2">
            <a:extLst xmlns:a="http://schemas.openxmlformats.org/drawingml/2006/main">
              <a:ext uri="{FF2B5EF4-FFF2-40B4-BE49-F238E27FC236}">
                <a16:creationId xmlns:a16="http://schemas.microsoft.com/office/drawing/2014/main" id="{C873F5EF-1BA9-4C46-84D6-0FE28D27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438775"/>
            <a:ext cx="531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B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source-note">
            <a:extLst xmlns:a="http://schemas.openxmlformats.org/drawingml/2006/main">
              <a:ext uri="{FF2B5EF4-FFF2-40B4-BE49-F238E27FC236}">
                <a16:creationId xmlns:a16="http://schemas.microsoft.com/office/drawing/2014/main" id="{D2D0CF25-6D66-47E9-860E-F1D1FA66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825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M5 · 16 ГБ · native Mac · один прогон: 132,11 с, включая ещё 1,09 с подготовки/сохранения · не RTX-бенчмарк</a:t>
            </a:r>
          </a:p>
        </p:txBody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FCA4377-0DA8-457D-8C0E-B4A36985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1050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010042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303C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29F254F-C390-4D57-BE46-0FA6A467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ED065B1-9E53-4A51-9023-E115B063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3375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050">
                <a:solidFill>
                  <a:srgbClr val="CCD6A3"/>
                </a:solidFill>
                <a:latin typeface="Arial"/>
                <a:ea typeface="Arial"/>
                <a:cs typeface="Arial"/>
              </a:defRPr>
            </a:pPr>
            <a:r>
              <a:t>ВСТРЕЧА ЗАКОНЧИЛАСЬ. РАБОТА ПРОДОЛЖАЕТСЯ.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BDD5EE7D-5F1B-461E-BB6D-648F31C4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64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Кто. Что. Когда.</a:t>
            </a:r>
          </a:p>
        </p:txBody>
      </p:sp>
      <p:sp>
        <p:nvSpPr>
          <p:cNvPr id="4" name="claim-proof">
            <a:extLst xmlns:a="http://schemas.openxmlformats.org/drawingml/2006/main">
              <a:ext uri="{FF2B5EF4-FFF2-40B4-BE49-F238E27FC236}">
                <a16:creationId xmlns:a16="http://schemas.microsoft.com/office/drawing/2014/main" id="{8FDE6A44-A4EC-41BE-A295-2D126493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62275"/>
            <a:ext cx="10925175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5025">
                <a:solidFill>
                  <a:srgbClr val="CCD6A3"/>
                </a:solidFill>
                <a:latin typeface="Georgia"/>
                <a:ea typeface="Georgia"/>
                <a:cs typeface="Georgia"/>
              </a:defRPr>
            </a:pPr>
            <a:r>
              <a:t>И где это прозвучало.</a:t>
            </a:r>
          </a:p>
        </p:txBody>
      </p:sp>
      <p:sp>
        <p:nvSpPr>
          <p:cNvPr id="5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3D5014D9-52F8-4B41-9630-7909D566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1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megan-original-mar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8dcdf711f4f03">
            <a:extLst>
              <a:ext uri="{96DAC541-7B7A-43D3-8B79-37D633B846F1}">
                <asvg:svgBlip xmlns:asvg="http://schemas.microsoft.com/office/drawing/2016/SVG/main" r:embed="R4557cdf2e5004f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521017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7" name="brand-name">
            <a:extLst xmlns:a="http://schemas.openxmlformats.org/drawingml/2006/main">
              <a:ext uri="{FF2B5EF4-FFF2-40B4-BE49-F238E27FC236}">
                <a16:creationId xmlns:a16="http://schemas.microsoft.com/office/drawing/2014/main" id="{BA9200C8-05DA-4589-A46B-9C5752AF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48275"/>
            <a:ext cx="347662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megan.</a:t>
            </a:r>
          </a:p>
        </p:txBody>
      </p:sp>
      <p:sp>
        <p:nvSpPr>
          <p:cNvPr id="8" name="closing-promise">
            <a:extLst xmlns:a="http://schemas.openxmlformats.org/drawingml/2006/main">
              <a:ext uri="{FF2B5EF4-FFF2-40B4-BE49-F238E27FC236}">
                <a16:creationId xmlns:a16="http://schemas.microsoft.com/office/drawing/2014/main" id="{780836C3-206A-437F-8209-22365FB8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276850"/>
            <a:ext cx="5067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025">
                <a:solidFill>
                  <a:srgbClr val="CCD6A3"/>
                </a:solidFill>
                <a:latin typeface="Arial"/>
                <a:ea typeface="Arial"/>
                <a:cs typeface="Arial"/>
              </a:defRPr>
            </a:pPr>
            <a:r>
              <a:t>Проверяемый протокол.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025">
                <a:solidFill>
                  <a:srgbClr val="CCD6A3"/>
                </a:solidFill>
                <a:latin typeface="Arial"/>
                <a:ea typeface="Arial"/>
                <a:cs typeface="Arial"/>
              </a:defRPr>
            </a:pPr>
            <a:r>
              <a:t>На вашем устройстве.</a:t>
            </a:r>
          </a:p>
        </p:txBody>
      </p:sp>
      <p:sp>
        <p:nvSpPr>
          <p:cNvPr id="9" name="source-note">
            <a:extLst xmlns:a="http://schemas.openxmlformats.org/drawingml/2006/main">
              <a:ext uri="{FF2B5EF4-FFF2-40B4-BE49-F238E27FC236}">
                <a16:creationId xmlns:a16="http://schemas.microsoft.com/office/drawing/2014/main" id="{9282ECD5-4710-4FC3-9740-2BFD28AD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825">
                <a:solidFill>
                  <a:srgbClr val="AAB49D"/>
                </a:solidFill>
                <a:latin typeface="Arial"/>
                <a:ea typeface="Arial"/>
                <a:cs typeface="Arial"/>
              </a:defRPr>
            </a:pPr>
            <a:r>
              <a:t>AI Steppe Tech Hack · AI Meeting Intelligence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15CA8F4-5DD0-4506-BEF0-EF5DE17C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1050">
                <a:solidFill>
                  <a:srgbClr val="CCD6A3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802257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F72E8DD-2FF5-4E38-A591-90D0D833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B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0AB260F-9568-4678-A12B-B0CAADD1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3375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050">
                <a:solidFill>
                  <a:srgbClr val="596B29"/>
                </a:solidFill>
                <a:latin typeface="Arial"/>
                <a:ea typeface="Arial"/>
                <a:cs typeface="Arial"/>
              </a:defRPr>
            </a:pPr>
            <a:r>
              <a:t>РЕЗЕРВ · АВТОНОМНОСТЬ И ЭКСПОРТ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E7A98F0A-D027-42C3-BC85-ACCEC983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3450">
                <a:solidFill>
                  <a:srgbClr val="30372C"/>
                </a:solidFill>
                <a:latin typeface="Georgia"/>
                <a:ea typeface="Georgia"/>
                <a:cs typeface="Georgia"/>
              </a:defRPr>
            </a:pPr>
            <a:r>
              <a:t>Офлайн — основной сценарий.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3450">
                <a:solidFill>
                  <a:srgbClr val="30372C"/>
                </a:solidFill>
                <a:latin typeface="Georgia"/>
                <a:ea typeface="Georgia"/>
                <a:cs typeface="Georgia"/>
              </a:defRPr>
            </a:pPr>
            <a:r>
              <a:t>Notion — отдельное действие.</a:t>
            </a:r>
          </a:p>
        </p:txBody>
      </p:sp>
      <p:sp>
        <p:nvSpPr>
          <p:cNvPr id="4" name="offline-lane">
            <a:extLst xmlns:a="http://schemas.openxmlformats.org/drawingml/2006/main">
              <a:ext uri="{FF2B5EF4-FFF2-40B4-BE49-F238E27FC236}">
                <a16:creationId xmlns:a16="http://schemas.microsoft.com/office/drawing/2014/main" id="{D48A5AAD-7964-41DE-A9C1-87B20BCF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677227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ffline-head">
            <a:extLst xmlns:a="http://schemas.openxmlformats.org/drawingml/2006/main">
              <a:ext uri="{FF2B5EF4-FFF2-40B4-BE49-F238E27FC236}">
                <a16:creationId xmlns:a16="http://schemas.microsoft.com/office/drawing/2014/main" id="{5BC133A3-4303-4FCE-9646-34B9796F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47975"/>
            <a:ext cx="6267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25">
                <a:solidFill>
                  <a:srgbClr val="596B29"/>
                </a:solidFill>
                <a:latin typeface="Arial"/>
                <a:ea typeface="Arial"/>
                <a:cs typeface="Arial"/>
              </a:defRPr>
            </a:pPr>
            <a:r>
              <a:t>ОБЯЗАТЕЛЬНОЕ ОФЛАЙН-ДЕМО</a:t>
            </a:r>
          </a:p>
        </p:txBody>
      </p:sp>
      <p:sp>
        <p:nvSpPr>
          <p:cNvPr id="6" name="offline-list">
            <a:extLst xmlns:a="http://schemas.openxmlformats.org/drawingml/2006/main">
              <a:ext uri="{FF2B5EF4-FFF2-40B4-BE49-F238E27FC236}">
                <a16:creationId xmlns:a16="http://schemas.microsoft.com/office/drawing/2014/main" id="{A11768C8-6323-40F0-9EC1-8F78D897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6191250" cy="1876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025">
                <a:solidFill>
                  <a:srgbClr val="30372C"/>
                </a:solidFill>
                <a:latin typeface="Arial"/>
                <a:ea typeface="Arial"/>
                <a:cs typeface="Arial"/>
              </a:defRPr>
            </a:pPr>
            <a:r>
              <a:t>Запись и расшифровка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025">
                <a:solidFill>
                  <a:srgbClr val="30372C"/>
                </a:solidFill>
                <a:latin typeface="Arial"/>
                <a:ea typeface="Arial"/>
                <a:cs typeface="Arial"/>
              </a:defRPr>
            </a:pPr>
            <a:r>
              <a:t>Спикеры, отчёт и чат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025">
                <a:solidFill>
                  <a:srgbClr val="30372C"/>
                </a:solidFill>
                <a:latin typeface="Arial"/>
                <a:ea typeface="Arial"/>
                <a:cs typeface="Arial"/>
              </a:defRPr>
            </a:pPr>
            <a:r>
              <a:t>Прослушивание источников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025">
                <a:solidFill>
                  <a:srgbClr val="30372C"/>
                </a:solidFill>
                <a:latin typeface="Arial"/>
                <a:ea typeface="Arial"/>
                <a:cs typeface="Arial"/>
              </a:defRPr>
            </a:pPr>
            <a:r>
              <a:t>JSON · CSV · .ics</a:t>
            </a:r>
          </a:p>
        </p:txBody>
      </p:sp>
      <p:sp>
        <p:nvSpPr>
          <p:cNvPr id="7" name="online-lane">
            <a:extLst xmlns:a="http://schemas.openxmlformats.org/drawingml/2006/main">
              <a:ext uri="{FF2B5EF4-FFF2-40B4-BE49-F238E27FC236}">
                <a16:creationId xmlns:a16="http://schemas.microsoft.com/office/drawing/2014/main" id="{082862FD-C17E-4E0B-A87D-E815F6C2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8100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online-head">
            <a:extLst xmlns:a="http://schemas.openxmlformats.org/drawingml/2006/main">
              <a:ext uri="{FF2B5EF4-FFF2-40B4-BE49-F238E27FC236}">
                <a16:creationId xmlns:a16="http://schemas.microsoft.com/office/drawing/2014/main" id="{31DB49B1-8BF1-4D46-B5AB-CE839FC9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47975"/>
            <a:ext cx="330517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25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ОПЦИОНАЛЬНО · ОНЛАЙН</a:t>
            </a:r>
          </a:p>
        </p:txBody>
      </p:sp>
      <p:sp>
        <p:nvSpPr>
          <p:cNvPr id="9" name="online-name">
            <a:extLst xmlns:a="http://schemas.openxmlformats.org/drawingml/2006/main">
              <a:ext uri="{FF2B5EF4-FFF2-40B4-BE49-F238E27FC236}">
                <a16:creationId xmlns:a16="http://schemas.microsoft.com/office/drawing/2014/main" id="{993C13EC-6AC7-44C7-ACDC-407FAE54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81375"/>
            <a:ext cx="330517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700">
                <a:solidFill>
                  <a:srgbClr val="30372C"/>
                </a:solidFill>
                <a:latin typeface="Georgia"/>
                <a:ea typeface="Georgia"/>
                <a:cs typeface="Georgia"/>
              </a:defRPr>
            </a:pPr>
            <a:r>
              <a:t>Notion</a:t>
            </a:r>
          </a:p>
        </p:txBody>
      </p:sp>
      <p:sp>
        <p:nvSpPr>
          <p:cNvPr id="10" name="online-details">
            <a:extLst xmlns:a="http://schemas.openxmlformats.org/drawingml/2006/main">
              <a:ext uri="{FF2B5EF4-FFF2-40B4-BE49-F238E27FC236}">
                <a16:creationId xmlns:a16="http://schemas.microsoft.com/office/drawing/2014/main" id="{0582B29C-E2BD-489E-90EB-31C352C7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48125"/>
            <a:ext cx="3305175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650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По явному действию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650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отправляются отчёт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650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и цитаты.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650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Аудио остаётся локально.</a:t>
            </a:r>
          </a:p>
        </p:txBody>
      </p:sp>
      <p:sp>
        <p:nvSpPr>
          <p:cNvPr id="11" name="case-alternative">
            <a:extLst xmlns:a="http://schemas.openxmlformats.org/drawingml/2006/main">
              <a:ext uri="{FF2B5EF4-FFF2-40B4-BE49-F238E27FC236}">
                <a16:creationId xmlns:a16="http://schemas.microsoft.com/office/drawing/2014/main" id="{8CD80FFA-0C8F-47AC-970D-0AD524EA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950">
                <a:solidFill>
                  <a:srgbClr val="596B29"/>
                </a:solidFill>
                <a:latin typeface="Arial"/>
                <a:ea typeface="Arial"/>
                <a:cs typeface="Arial"/>
              </a:defRPr>
            </a:pPr>
            <a:r>
              <a:t>ТЗ принимает файл .ics как вариант интеграции.</a:t>
            </a:r>
          </a:p>
        </p:txBody>
      </p:sp>
      <p:sp>
        <p:nvSpPr>
          <p:cNvPr id="1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E00AF13B-5A9E-42D5-9599-BF7BC221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825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Резервный слайд · ТЗ, стр.1; docs/OFFLINE.md; docs/DOCKER.md; backend/notion.py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CFB7AC9-9D4D-421C-9A27-63792AE9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1050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499290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3FC7D07-06AC-4E8F-94D1-AC59053F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B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8AFBA3A-A663-427D-A6AB-E406A667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3375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050">
                <a:solidFill>
                  <a:srgbClr val="596B29"/>
                </a:solidFill>
                <a:latin typeface="Arial"/>
                <a:ea typeface="Arial"/>
                <a:cs typeface="Arial"/>
              </a:defRPr>
            </a:pPr>
            <a:r>
              <a:t>РЕЗЕРВ · ПРОВЕРКИ И ГРАНИЦЫ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716DA5EF-FE3F-4BD5-9507-9F9AA620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3600">
                <a:solidFill>
                  <a:srgbClr val="30372C"/>
                </a:solidFill>
                <a:latin typeface="Georgia"/>
                <a:ea typeface="Georgia"/>
                <a:cs typeface="Georgia"/>
              </a:defRPr>
            </a:pPr>
            <a:r>
              <a:t>Мы разделяем поддержку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3600">
                <a:solidFill>
                  <a:srgbClr val="30372C"/>
                </a:solidFill>
                <a:latin typeface="Georgia"/>
                <a:ea typeface="Georgia"/>
                <a:cs typeface="Georgia"/>
              </a:defRPr>
            </a:pPr>
            <a:r>
              <a:t>и доказанную точность.</a:t>
            </a:r>
          </a:p>
        </p:txBody>
      </p:sp>
      <p:sp>
        <p:nvSpPr>
          <p:cNvPr id="4" name="col-input">
            <a:extLst xmlns:a="http://schemas.openxmlformats.org/drawingml/2006/main">
              <a:ext uri="{FF2B5EF4-FFF2-40B4-BE49-F238E27FC236}">
                <a16:creationId xmlns:a16="http://schemas.microsoft.com/office/drawing/2014/main" id="{401958DC-4E8A-448B-8601-986EC599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295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975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ОБЛАСТЬ</a:t>
            </a:r>
          </a:p>
        </p:txBody>
      </p:sp>
      <p:sp>
        <p:nvSpPr>
          <p:cNvPr id="5" name="col-measure">
            <a:extLst xmlns:a="http://schemas.openxmlformats.org/drawingml/2006/main">
              <a:ext uri="{FF2B5EF4-FFF2-40B4-BE49-F238E27FC236}">
                <a16:creationId xmlns:a16="http://schemas.microsoft.com/office/drawing/2014/main" id="{8EC78822-E4E2-472C-A2A3-E0202F01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543175"/>
            <a:ext cx="340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975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ЧТО ПРОВЕРЕНО</a:t>
            </a:r>
          </a:p>
        </p:txBody>
      </p:sp>
      <p:sp>
        <p:nvSpPr>
          <p:cNvPr id="6" name="col-limit">
            <a:extLst xmlns:a="http://schemas.openxmlformats.org/drawingml/2006/main">
              <a:ext uri="{FF2B5EF4-FFF2-40B4-BE49-F238E27FC236}">
                <a16:creationId xmlns:a16="http://schemas.microsoft.com/office/drawing/2014/main" id="{5488888B-88F4-4ADC-95E0-802C88B5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543175"/>
            <a:ext cx="3667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975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ГРАНИЦА ВЫВОДА</a:t>
            </a:r>
          </a:p>
        </p:txBody>
      </p:sp>
      <p:sp>
        <p:nvSpPr>
          <p:cNvPr id="7" name="evidence-rule-0">
            <a:extLst xmlns:a="http://schemas.openxmlformats.org/drawingml/2006/main">
              <a:ext uri="{FF2B5EF4-FFF2-40B4-BE49-F238E27FC236}">
                <a16:creationId xmlns:a16="http://schemas.microsoft.com/office/drawing/2014/main" id="{3BD8903E-9E18-4F94-A4F7-94233960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area-0">
            <a:extLst xmlns:a="http://schemas.openxmlformats.org/drawingml/2006/main">
              <a:ext uri="{FF2B5EF4-FFF2-40B4-BE49-F238E27FC236}">
                <a16:creationId xmlns:a16="http://schemas.microsoft.com/office/drawing/2014/main" id="{0B2DDC47-0B98-4653-9814-9D66890B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311467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650">
                <a:solidFill>
                  <a:srgbClr val="30372C"/>
                </a:solidFill>
                <a:latin typeface="Arial"/>
                <a:ea typeface="Arial"/>
                <a:cs typeface="Arial"/>
              </a:defRPr>
            </a:pPr>
            <a:r>
              <a:t>Русский и английский</a:t>
            </a:r>
          </a:p>
        </p:txBody>
      </p:sp>
      <p:sp>
        <p:nvSpPr>
          <p:cNvPr id="9" name="measure-0">
            <a:extLst xmlns:a="http://schemas.openxmlformats.org/drawingml/2006/main">
              <a:ext uri="{FF2B5EF4-FFF2-40B4-BE49-F238E27FC236}">
                <a16:creationId xmlns:a16="http://schemas.microsoft.com/office/drawing/2014/main" id="{C5BF5CEA-E928-47A5-A5DC-FE654A2A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105150"/>
            <a:ext cx="34099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575">
                <a:solidFill>
                  <a:srgbClr val="596B29"/>
                </a:solidFill>
                <a:latin typeface="Arial"/>
                <a:ea typeface="Arial"/>
                <a:cs typeface="Arial"/>
              </a:defRPr>
            </a:pPr>
            <a:r>
              <a:t>Полные прогоны на аудио</a:t>
            </a:r>
          </a:p>
        </p:txBody>
      </p:sp>
      <p:sp>
        <p:nvSpPr>
          <p:cNvPr id="10" name="limit-0">
            <a:extLst xmlns:a="http://schemas.openxmlformats.org/drawingml/2006/main">
              <a:ext uri="{FF2B5EF4-FFF2-40B4-BE49-F238E27FC236}">
                <a16:creationId xmlns:a16="http://schemas.microsoft.com/office/drawing/2014/main" id="{E69ECC12-3232-48B5-9547-190AFAFC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105150"/>
            <a:ext cx="3667125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Выводы требуют проверки по источнику.</a:t>
            </a:r>
          </a:p>
        </p:txBody>
      </p:sp>
      <p:sp>
        <p:nvSpPr>
          <p:cNvPr id="11" name="evidence-rule-1">
            <a:extLst xmlns:a="http://schemas.openxmlformats.org/drawingml/2006/main">
              <a:ext uri="{FF2B5EF4-FFF2-40B4-BE49-F238E27FC236}">
                <a16:creationId xmlns:a16="http://schemas.microsoft.com/office/drawing/2014/main" id="{6B0313F5-5619-443A-8F84-BAAEE3D4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area-1">
            <a:extLst xmlns:a="http://schemas.openxmlformats.org/drawingml/2006/main">
              <a:ext uri="{FF2B5EF4-FFF2-40B4-BE49-F238E27FC236}">
                <a16:creationId xmlns:a16="http://schemas.microsoft.com/office/drawing/2014/main" id="{0884F43E-AB70-4484-9063-A5044E7C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311467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650">
                <a:solidFill>
                  <a:srgbClr val="30372C"/>
                </a:solidFill>
                <a:latin typeface="Arial"/>
                <a:ea typeface="Arial"/>
                <a:cs typeface="Arial"/>
              </a:defRPr>
            </a:pPr>
            <a:r>
              <a:t>Казахский + русский</a:t>
            </a:r>
          </a:p>
        </p:txBody>
      </p:sp>
      <p:sp>
        <p:nvSpPr>
          <p:cNvPr id="13" name="measure-1">
            <a:extLst xmlns:a="http://schemas.openxmlformats.org/drawingml/2006/main">
              <a:ext uri="{FF2B5EF4-FFF2-40B4-BE49-F238E27FC236}">
                <a16:creationId xmlns:a16="http://schemas.microsoft.com/office/drawing/2014/main" id="{7923AD45-37C5-46C7-8DD4-642A3EEC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38575"/>
            <a:ext cx="34099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575">
                <a:solidFill>
                  <a:srgbClr val="596B29"/>
                </a:solidFill>
                <a:latin typeface="Arial"/>
                <a:ea typeface="Arial"/>
                <a:cs typeface="Arial"/>
              </a:defRPr>
            </a:pPr>
            <a:r>
              <a:t>40,59 с · 100 слов эталона</a:t>
            </a:r>
          </a:p>
        </p:txBody>
      </p:sp>
      <p:sp>
        <p:nvSpPr>
          <p:cNvPr id="14" name="limit-1">
            <a:extLst xmlns:a="http://schemas.openxmlformats.org/drawingml/2006/main">
              <a:ext uri="{FF2B5EF4-FFF2-40B4-BE49-F238E27FC236}">
                <a16:creationId xmlns:a16="http://schemas.microsoft.com/office/drawing/2014/main" id="{B020AAD2-942B-4387-B6BC-EBE72A58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838575"/>
            <a:ext cx="3667125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38% WER при явном kk; auto — 49%.</a:t>
            </a:r>
          </a:p>
        </p:txBody>
      </p:sp>
      <p:sp>
        <p:nvSpPr>
          <p:cNvPr id="15" name="evidence-rule-2">
            <a:extLst xmlns:a="http://schemas.openxmlformats.org/drawingml/2006/main">
              <a:ext uri="{FF2B5EF4-FFF2-40B4-BE49-F238E27FC236}">
                <a16:creationId xmlns:a16="http://schemas.microsoft.com/office/drawing/2014/main" id="{6E999FD2-0418-46B1-809A-D47EC80E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area-2">
            <a:extLst xmlns:a="http://schemas.openxmlformats.org/drawingml/2006/main">
              <a:ext uri="{FF2B5EF4-FFF2-40B4-BE49-F238E27FC236}">
                <a16:creationId xmlns:a16="http://schemas.microsoft.com/office/drawing/2014/main" id="{7CF7D424-A87F-470E-B205-BFB29867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311467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650">
                <a:solidFill>
                  <a:srgbClr val="30372C"/>
                </a:solidFill>
                <a:latin typeface="Arial"/>
                <a:ea typeface="Arial"/>
                <a:cs typeface="Arial"/>
              </a:defRPr>
            </a:pPr>
            <a:r>
              <a:t>Спикеры</a:t>
            </a:r>
          </a:p>
        </p:txBody>
      </p:sp>
      <p:sp>
        <p:nvSpPr>
          <p:cNvPr id="17" name="measure-2">
            <a:extLst xmlns:a="http://schemas.openxmlformats.org/drawingml/2006/main">
              <a:ext uri="{FF2B5EF4-FFF2-40B4-BE49-F238E27FC236}">
                <a16:creationId xmlns:a16="http://schemas.microsoft.com/office/drawing/2014/main" id="{07DE460D-E114-4CA1-B13B-42F04B1F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572000"/>
            <a:ext cx="34099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575">
                <a:solidFill>
                  <a:srgbClr val="596B29"/>
                </a:solidFill>
                <a:latin typeface="Arial"/>
                <a:ea typeface="Arial"/>
                <a:cs typeface="Arial"/>
              </a:defRPr>
            </a:pPr>
            <a:r>
              <a:t>До четырёх голосов</a:t>
            </a:r>
          </a:p>
        </p:txBody>
      </p:sp>
      <p:sp>
        <p:nvSpPr>
          <p:cNvPr id="18" name="limit-2">
            <a:extLst xmlns:a="http://schemas.openxmlformats.org/drawingml/2006/main">
              <a:ext uri="{FF2B5EF4-FFF2-40B4-BE49-F238E27FC236}">
                <a16:creationId xmlns:a16="http://schemas.microsoft.com/office/drawing/2014/main" id="{9FC7BD31-0D60-4980-841B-BC8FA3FE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572000"/>
            <a:ext cx="3667125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Перебивания могут остаться без метки.</a:t>
            </a:r>
          </a:p>
        </p:txBody>
      </p:sp>
      <p:sp>
        <p:nvSpPr>
          <p:cNvPr id="19" name="evidence-rule-3">
            <a:extLst xmlns:a="http://schemas.openxmlformats.org/drawingml/2006/main">
              <a:ext uri="{FF2B5EF4-FFF2-40B4-BE49-F238E27FC236}">
                <a16:creationId xmlns:a16="http://schemas.microsoft.com/office/drawing/2014/main" id="{6F370395-AC74-400C-B6EB-B0B7DB14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area-3">
            <a:extLst xmlns:a="http://schemas.openxmlformats.org/drawingml/2006/main">
              <a:ext uri="{FF2B5EF4-FFF2-40B4-BE49-F238E27FC236}">
                <a16:creationId xmlns:a16="http://schemas.microsoft.com/office/drawing/2014/main" id="{859BA912-7055-4B06-95B0-CE40A264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311467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650">
                <a:solidFill>
                  <a:srgbClr val="30372C"/>
                </a:solidFill>
                <a:latin typeface="Arial"/>
                <a:ea typeface="Arial"/>
                <a:cs typeface="Arial"/>
              </a:defRPr>
            </a:pPr>
            <a:r>
              <a:t>Запуск</a:t>
            </a:r>
          </a:p>
        </p:txBody>
      </p:sp>
      <p:sp>
        <p:nvSpPr>
          <p:cNvPr id="21" name="measure-3">
            <a:extLst xmlns:a="http://schemas.openxmlformats.org/drawingml/2006/main">
              <a:ext uri="{FF2B5EF4-FFF2-40B4-BE49-F238E27FC236}">
                <a16:creationId xmlns:a16="http://schemas.microsoft.com/office/drawing/2014/main" id="{7D078494-419A-49F1-A1F4-DA16567D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305425"/>
            <a:ext cx="34099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575">
                <a:solidFill>
                  <a:srgbClr val="596B29"/>
                </a:solidFill>
                <a:latin typeface="Arial"/>
                <a:ea typeface="Arial"/>
                <a:cs typeface="Arial"/>
              </a:defRPr>
            </a:pPr>
            <a:r>
              <a:t>Native Mac и Docker-профили</a:t>
            </a:r>
          </a:p>
        </p:txBody>
      </p:sp>
      <p:sp>
        <p:nvSpPr>
          <p:cNvPr id="22" name="limit-3">
            <a:extLst xmlns:a="http://schemas.openxmlformats.org/drawingml/2006/main">
              <a:ext uri="{FF2B5EF4-FFF2-40B4-BE49-F238E27FC236}">
                <a16:creationId xmlns:a16="http://schemas.microsoft.com/office/drawing/2014/main" id="{B119BDB6-B08F-404F-9CF5-E98043EF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5305425"/>
            <a:ext cx="3667125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Скорость на RTX ещё требует замера.</a:t>
            </a:r>
          </a:p>
        </p:txBody>
      </p:sp>
      <p:sp>
        <p:nvSpPr>
          <p:cNvPr id="23" name="next-test">
            <a:extLst xmlns:a="http://schemas.openxmlformats.org/drawingml/2006/main">
              <a:ext uri="{FF2B5EF4-FFF2-40B4-BE49-F238E27FC236}">
                <a16:creationId xmlns:a16="http://schemas.microsoft.com/office/drawing/2014/main" id="{F9C4448F-B660-4D21-BF23-71BD8641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725">
                <a:solidFill>
                  <a:srgbClr val="596B29"/>
                </a:solidFill>
                <a:latin typeface="Arial"/>
                <a:ea typeface="Arial"/>
                <a:cs typeface="Arial"/>
              </a:defRPr>
            </a:pPr>
            <a:r>
              <a:t>Следующая проверка — незнакомая запись и реальный микрофон.</a:t>
            </a:r>
          </a:p>
        </p:txBody>
      </p:sp>
      <p:sp>
        <p:nvSpPr>
          <p:cNvPr id="2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3CC83C6-5691-401E-9AD5-AE3E6F8C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382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825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docs/MULTILINGUAL_TEST.md · QUALITY_LOG.md · DIARIZATION.md · DOCKER.md · WER — ошибки слов, не задач</a:t>
            </a:r>
          </a:p>
        </p:txBody>
      </p:sp>
      <p:sp>
        <p:nvSpPr>
          <p:cNvPr id="2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7005159-3B40-46D2-8C86-67211724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1050">
                <a:solidFill>
                  <a:srgbClr val="69725D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022535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2026-09-11T12:07:45.9070000Z</dcterms:created>
  <dcterms:modified xsi:type="dcterms:W3CDTF">2026-09-11T12:07:45.9070000Z</dcterms:modified>
</coreProperties>
</file>